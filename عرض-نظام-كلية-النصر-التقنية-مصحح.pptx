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 قصيرة: النظام لم يعد فكرة — هو منصة عاملة بخمسة أدوار وثلاثين وحدة وخمسين شاشة، ولها تطبيق هاتف. سأعرض ما تفعله كل وحدة ولمن.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تُطل هنا. النقطة: المشكلة ليست نقص الجهد بل تشتّت البيانات. النظام يجمعها في مصدر 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مستخرجة من الكود مباشرة: 30 مسار API، 50 صفحة، 28 نموذج بيانات. أهم نقطة: مصدر واحد يخدم الويب والهاتف.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التأكيد المهم للإدارة: الفصل ليس شكلياً — الخادم نفسه يمنع الوصول، لا الواجهة فقط. الطالب لا يستطيع قراءة بيانات دفعة أخرى حتى لو حاول.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الدورة بالترتيب من اليمين لليسار. أهم نقطتين: منع التسليم المتأخر تلقائياً، وقائمة من لم يسلّم — كلاهما يوفر متابعة يدوية.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الأقوى أمام الإدارة الأكاديمية: النظام لا يسجّل فقط بل ينبّه. اذكر أن التقرير محصور بالعميد والأستاذ ضمن دفعاته — لا يراه الطلاب.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نقطة مهمة: المؤقّت مفروض من الخادم لا من المتصفح، فإغلاق الصفحة لا يوقف الوقت. بنك الامتحانات ميزة يقدّرها الطلاب كثيراً.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أهم فرق عن ChatGPT: كيدي يقرأ ملفات المادة نفسها. اذكر التناوب بين أربعة مزودين كضمان استمرارية — وأنه لا يكلّف الكلية اشتراكات مدفوعة حالياً.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تُظهر أن النظام ليس إدارياً فقط. مختبر البرمجة وغرف المذاكرة هما الأكثر استخداماً بين الطلاب.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طمئن الإدارة المالية: التخصيص FIFO تلقائي، والعملية داخل معاملة واحدة — لا يمكن أن تُسجَّل دفعة دون أن تُحدَّث الرسوم. إيصالات السداد محمية ولا يصلها إلا الإدارة.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اذكر أن الإشعارات تصل كإشعار هاتف حقيقي لا رسالة داخل التطبيق فقط. وأن نظام الإبلاغ شرط إلزامي لمتجري آبل وجوجل وهو منفَّذ.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سُئلت عن حماية البيانات: التشفير على كلمات المرور، وعزل الدفعات مفروض من الخادم، والملفات الحساسة خلف مصادقة. وحذف الحساب متطلب قانوني في المتاجر ومنفَّذ.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كن صريحاً: أندرويد جاهز، وآيفون يحتاج جهاز ماك وحساب مطوّر بـ99 دولاراً سنوياً. اطلب القرار في هذه النقطة.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بالطلبات الأربعة صراحةً. الأهم: اعتماد التشغيل الرسمي — بدونه يبقى النظام اختيارياً فلا يستخدمه أحد بالكامل.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9FC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النصر التقنية — جامعة النصر التقنية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الجامعي الرقمي المتكامل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واحدة تدير الدراسة والحضور والتقييم والمالية والتواصل — على الويب وتطبيق الهاتف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10412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104120" y="5120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C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٣٠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5120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C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٥٠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5120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C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45720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٢.١.٠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5120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C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الإصدار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FA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 للإدارة الأكاديمية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الدافع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يحلّه هذا النظام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02352" y="1892808"/>
            <a:ext cx="475488" cy="475488"/>
          </a:xfrm>
          <a:prstGeom prst="ellipse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0235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الورق والواتساب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865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المحاضرات والواجبات والإعلانات موزّعة بين مجموعات دردشة وأوراق — تضيع ولا تُؤرشف.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25912" y="1892808"/>
            <a:ext cx="475488" cy="475488"/>
          </a:xfrm>
          <a:prstGeom prst="ellipse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2591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اليدوي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865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كشوف ورقية تُحسب يدوياً، ولا إنذار مبكر للطالب المتعثّر قبل فوات الأوان.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02352" y="3950208"/>
            <a:ext cx="475488" cy="475488"/>
          </a:xfrm>
          <a:prstGeom prst="ellipse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02352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0050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 المنفصلة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4439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الرسوم في دفاتر مستقلة عن السجل الأكاديمي، والطالب لا يعرف رصيده إلا بالسؤال.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25912" y="3950208"/>
            <a:ext cx="475488" cy="475488"/>
          </a:xfrm>
          <a:prstGeom prst="ellipse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25912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0050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مصدر واحد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4439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جهة تحتفظ ببياناتها، فلا تقرير موحّد يعتمد عليه القرار الأكاديمي.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في أرقامه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٣٠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07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خدمية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9659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٥٠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807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تفاعلية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9659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1B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٢٨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807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بيانات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06840" y="19659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807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 بصلاحيات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72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71632" y="408736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71632" y="4087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1422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واحدة تخدم الويب والهاتف معاً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581144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الخادم Node.js مع قاعدة MongoDB يخدم موقع الويب وتطبيق الأندرويد وتطبيق الآيفون من نفس المصدر — أي تحديث يصل الجميع فوراً دون إعادة بناء. التطبيق مبني بـ Capacitor مع إشعارات فورية وبصمة ودعم العمل بلا إنترنت.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الصلاحيات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خمسة أدوار — كل دور يرى ما يخصّه فقط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54512" y="1746504"/>
            <a:ext cx="502920" cy="502920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54512" y="1746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المواد، المحاضرات، الواجبات والتسليم، الحضور، الاختبارات، الرسوم، السجل الأكاديمي.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54512" y="2715768"/>
            <a:ext cx="502920" cy="502920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54512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694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قائد الدفعة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صلاحيات الطالب، بالإضافة إلى رفع المحاضرات ورصد الحضور وإرسال تنبيهات دفعته.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54512" y="3685032"/>
            <a:ext cx="502920" cy="502920"/>
          </a:xfrm>
          <a:prstGeom prst="ellipse">
            <a:avLst/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54512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387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أستاذ المادة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9044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مواده ومحاضراته، إنشاء الاختبارات، تقييم التسليمات، رصد الحضور، تقارير دفعاته.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54512" y="4654296"/>
            <a:ext cx="502920" cy="502920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54512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079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العميد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737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صلاحية كاملة: المستخدمون، الدفعات، المالية، التقارير، البلاغات، إعدادات النظام.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954512" y="5623560"/>
            <a:ext cx="502920" cy="502920"/>
          </a:xfrm>
          <a:prstGeom prst="ellipse">
            <a:avLst/>
          </a:prstGeom>
          <a:solidFill>
            <a:srgbClr val="5A6B7D"/>
          </a:solidFill>
          <a:ln w="12700">
            <a:solidFill>
              <a:srgbClr val="5A6B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54512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7725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 النظام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8430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العميد التقنية مع مراقبة تشغيلية ومؤشرات أداء الخادم.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الأول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الدورة الأكاديمية الكاملة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04872" y="189280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47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المواد والدفعات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86584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العميد ينشئ الدفعات والمواد ويسند الأساتذة.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B7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29000" y="16916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93792" y="189280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947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المحاضرات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386584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الشيتات والفيديو مع ترتيب معتمد وحفظ للعمل بلا إنترنت.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007608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B7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82712" y="189280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8271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1947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الواجبات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386584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تكليف بموعد نهائي، تسليم الطالب بملف، ومنع التسليم بعد الموعد.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B7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06840" y="16916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771632" y="189280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77163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1947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386584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 يرصد الدرجة والملاحظات، والطالب يُشعَر فوراً.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25196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02352" y="445312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02352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507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التسليم بمهلة محددة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94690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الذي حصل على أقل من ٦٠ يمكنه إعادة التسليم خلال سبعة أيام من الموعد، وتُوسَم النسخة كمتأخرة أمام المقيّم.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63640" y="425196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771632" y="4453128"/>
            <a:ext cx="475488" cy="475488"/>
          </a:xfrm>
          <a:prstGeom prst="ellipse">
            <a:avLst/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771632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5079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من لم يسلّم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94690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 يرى قائمة الطلاب الذين لم يسلّموا التكليف مفلترة حسب الدفعة، فيتابعهم قبل إغلاق الموعد.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الثاني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والإنذار المبكر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02352" y="1847088"/>
            <a:ext cx="475488" cy="475488"/>
          </a:xfrm>
          <a:prstGeom prst="ellipse">
            <a:avLst/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0235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01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الحضور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4086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 أو قائد الدفعة يرصد الحضور لكل مادة في كل يوم. سجل واحد لكل حصة يمنع الازدواج، وتُحفظ هوية من رصده.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71632" y="1847088"/>
            <a:ext cx="475488" cy="475488"/>
          </a:xfrm>
          <a:prstGeom prst="ellipse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163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019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تلقائي عند الخطر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40864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تنزل نسبة حضور الطالب تحت ٧٥٪ يصله تنبيه فوري بنسبته الحالية والحد المطلوب — قبل أن يفقد حقه في الامتحان.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972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71632" y="404164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71632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0965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الإنذار المبكر — للعميد والأستاذ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535424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يجمع التقرير ثلاثة مؤشرات لكل طالب: تراجع الحضور، وتراكم الواجبات غير المسلَّمة، وتدنّي نتائج الاختبارات — ويصنّف الطلاب إلى خطر مرتفع ومتوسط ومنخفض.</a:t>
            </a:r>
            <a:endParaRPr lang="en-US" sz="1250" dirty="0"/>
          </a:p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الغرض تدخّل الكلية مبكراً بدل اكتشاف التعثّر في نتيجة نهاية الفصل.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الثالث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الاختبارات وبنك الامتحانات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02352" y="189280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0235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 موقوتة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8658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 يحدد نافذة الإتاحة ومدة الاختبار. المؤقّت يبدأ عند فتح الطالب للاختبار ويُغلق تلقائياً عند انتهاء المدة.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25912" y="1892808"/>
            <a:ext cx="475488" cy="475488"/>
          </a:xfrm>
          <a:prstGeom prst="ellipse">
            <a:avLst/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2591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تصحيح فوري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8658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اختيار من متعدد بدرجات مخصصة لكل سؤال، والتصحيح والدرجة يظهران لحظة التسليم.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02352" y="404164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02352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096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بنك الامتحانات السابقة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53542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أرشيف امتحانات الفاينل مصنّف بالمادة والسنة والفصل، متاح للطلاب للمراجعة.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25912" y="404164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25912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096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محاكاة الامتحان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3542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يؤدي امتحاناً سابقاً محاكاةً فيحصل على نتيجته ومراجعة لكل سؤال وتشخيص لمستواه.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F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المساعد الذكي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«كيدي» — يقرأ محتوى المادة فعلياً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روبوت محادثة عاماً: كيدي يستخرج نص محاضرات المادة من ملفاتها ويجيب منها هي، فتكون الإجابة من منهج الكلية لا من الإنترنت.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164B7D"/>
          </a:solidFill>
          <a:ln w="12700">
            <a:solidFill>
              <a:srgbClr val="2562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807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التلخيص والشرح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7296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9D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يلخّص محاضرة أو المادة كاملة، ويشرح أي جزئية بلغة مبسّطة.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60604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164B7D"/>
          </a:solidFill>
          <a:ln w="12700">
            <a:solidFill>
              <a:srgbClr val="2562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807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بطاقات الاستذكار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317296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9D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يحوّل المحاضرة إلى بطاقات مراجعة سريعة تلقائياً.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164B7D"/>
          </a:solidFill>
          <a:ln w="12700">
            <a:solidFill>
              <a:srgbClr val="2562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اختبارات تجريبية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68172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9D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يبني أسئلة متوقعة من محتوى المادة لمراجعة ما قبل الامتحان.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411480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164B7D"/>
          </a:solidFill>
          <a:ln w="12700">
            <a:solidFill>
              <a:srgbClr val="2562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مصحّح أخطاء البرمجة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468172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9D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 سبب خطأ الكود ويقترح التصحيح لطلاب تقنية المعلومات.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B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على أربعة مزوّدين بالتناوب (Gemini · Qwen · Cohere · Groq) — تعطُّل أحدهم لا يوقف الخدمة.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الرابع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تدعم الطالب خارج المحاضرة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73552" y="189280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7355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مختبر البرمجة السحابي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8658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كتابة كود C++ وتشغيله من المتصفح أو الهاتف دون تثبيت أي برنامج.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76872" y="1892808"/>
            <a:ext cx="475488" cy="475488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7687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◷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 المذاكرة الجماعية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8658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غرفة لكل دفعة بمهام مشتركة ومؤقّت بومودورو يتزامن بين الطلاب لحظياً.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680192" y="1892808"/>
            <a:ext cx="475488" cy="475488"/>
          </a:xfrm>
          <a:prstGeom prst="ellipse">
            <a:avLst/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8019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الاستذكار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8658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مراجعة سريعة تُولَّد من المحاضرة أو يكتبها الطالب بنفسه.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73552" y="404164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73552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096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المتصدرين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53542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تُمنح على إنجاز الواجبات وأداء الاختبارات، وترتيب يحفّز المنافسة.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76872" y="404164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76872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◫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096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 الأكاديمي الموثق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53542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رقمي بالحضور والدرجات والإنجازات، برقم تسلسلي وبصمة تحقق.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80192" y="4041648"/>
            <a:ext cx="475488" cy="475488"/>
          </a:xfrm>
          <a:prstGeom prst="ellipse">
            <a:avLst/>
          </a:prstGeom>
          <a:solidFill>
            <a:srgbClr val="5A6B7D"/>
          </a:solidFill>
          <a:ln w="12700">
            <a:solidFill>
              <a:srgbClr val="5A6B7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80192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096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جودة المقررات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استبيان مجهول الهوية يقيس رضا الطلاب عن كل مقرر وأستاذه.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الخامس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المالية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73552" y="189280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7355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الرسوم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8658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العميد يضيف رسوماً لطالب واحد أو لدفعة كاملة، بخصم وتاريخ استحقاق، ويُشعَر الطالب فوراً.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76872" y="1892808"/>
            <a:ext cx="475488" cy="475488"/>
          </a:xfrm>
          <a:prstGeom prst="ellipse">
            <a:avLst/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7687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السداد والتخصيص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8658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دفعة تُخصَّم من أقدم رسم مستحق أولاً، وتُسجَّل العملية كاملة في معاملة واحدة لا تنقسم.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71632" y="189280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7163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⎙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19476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السداد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86584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يرفع صورة إيصال التحويل من هاتفه، والإدارة تراجعه وتعتمده أو ترفضه بسبب مكتوب.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10972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71632" y="427024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71632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الأرصدة وتقرير المتأخرات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764024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واحدة تعرض إجمالي الرسوم والمدفوع والرصيد لكل طالب، مع تقرير بالمتأخرات وتذكير تلقائي للطلاب المتأخرين عن السداد. الأرقام مشتقة من مصدر واحد فلا تتضارب بين الشاشات.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السادس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والإشعارات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54512" y="1755648"/>
            <a:ext cx="512064" cy="512064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54512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فورية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تصل الهاتف فوراً — درجة جديدة، تنبيه غياب، رسوم مستحقة، إعلان عاجل.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54512" y="2898648"/>
            <a:ext cx="512064" cy="512064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54512" y="2898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توجيه دقيق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54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 يُوجَّه لدفعة أو فئة أو شخص بعينه، ولا يصل من لا يعنيه.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54512" y="4041648"/>
            <a:ext cx="512064" cy="512064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54512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التقويم الأكاديمي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97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المواعيد والامتحانات والفعاليات في تقويم واحد يراه الطالب والأستاذ.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54512" y="5184648"/>
            <a:ext cx="512064" cy="512064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54512" y="5184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على الفيديو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يسأل عند لحظة محددة في المحاضرة المسجّلة، فيجيبه الأستاذ في موضعها.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72800" cy="868680"/>
          </a:xfrm>
          <a:prstGeom prst="roundRect">
            <a:avLst>
              <a:gd name="adj" fmla="val 1263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771632" y="5687568"/>
            <a:ext cx="475488" cy="475488"/>
          </a:xfrm>
          <a:prstGeom prst="ellipse">
            <a:avLst/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71632" y="5687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7424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الإبلاغ عن المحتوى المسيء وحظر المستخدمين — مع التزام بالمراجعة خلال ٢٤ ساعة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وخصوصية البيانات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73552" y="189280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7355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المرور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86584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مشفّرة بـ bcrypt ولا تُخزَّن كنص. تغييرها إلزامي عند أول دخول.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76872" y="189280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7687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الدخول بالبصمة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86584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البصمة والتعرّف على الوجه عبر Passkeys بدل كتابة كلمة المرور.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680192" y="189280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8019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جلسة واحدة نشطة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86584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الدخول من جهاز جديد ينهي الجلسة السابقة تلقائياً.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73552" y="399592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73552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050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عزل الدفعات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489704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الخادم يمنع الوصول لبيانات دفعة أخرى — لا الواجهة فقط.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76872" y="399592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76872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050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محمية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489704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تسليمات الطلاب وإيصالات السداد لا تُفتح إلا بحساب مصرّح.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80192" y="3995928"/>
            <a:ext cx="475488" cy="475488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80192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050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حذف الحساب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489704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 يحذف حسابه وبياناته الشخصية بنفسه من داخل التطبيق.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217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الهاتف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02352" y="1892808"/>
            <a:ext cx="475488" cy="475488"/>
          </a:xfrm>
          <a:prstGeom prst="ellipse">
            <a:avLst/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02352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أندرويد — جاهز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86584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 مبني ويعمل، بإشعارات فورية ودخول بالبصمة وحفظ المحاضرات للمذاكرة بلا إنترنت.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9476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آيفون — مهيّأ للنشر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86584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المشروع جاهز تقنياً ومستوفٍ لشروط App Store. يتبقّى البناء على جهاز ماك وحساب المطوّر.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427024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73552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25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بلا إنترنت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6402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المحاضرات المحفوظة تُقرأ دون اتصال، والصفحات تعمل من الذاكرة المؤقتة.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40690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76872" y="427024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76872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325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النظام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76402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تصل كإشعار هاتف حقيقي حتى والتطبيق مغلق.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0" y="40690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27000" dist="25400" dir="5400000">
              <a:srgbClr val="0D3B6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680192" y="4270248"/>
            <a:ext cx="475488" cy="475488"/>
          </a:xfrm>
          <a:prstGeom prst="ellipse">
            <a:avLst/>
          </a:prstGeom>
          <a:solidFill>
            <a:srgbClr val="2176C7"/>
          </a:solidFill>
          <a:ln w="12700">
            <a:solidFill>
              <a:srgbClr val="2176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680192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325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يتكيّف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76402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عربية من اليمين لليسار، ووضع ليلي، وتناسق عبر مقاسات الهواتف.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F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عاملة — والقرار المطلوب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64B7D"/>
          </a:solidFill>
          <a:ln w="12700">
            <a:solidFill>
              <a:srgbClr val="2562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6360" y="227685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6636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58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التشغيل الرسمي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6609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9D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إقرار النظام مرجعاً معتمداً للحضور والواجبات والدرجات بدل الطرق الحالية.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64B7D"/>
          </a:solidFill>
          <a:ln w="12700">
            <a:solidFill>
              <a:srgbClr val="2562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227685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258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الأساتذة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6609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9D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جلسة تعريفية قصيرة لأساتذة المواد على رفع المحاضرات ورصد الحضور والتقييم.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64B7D"/>
          </a:solidFill>
          <a:ln w="12700">
            <a:solidFill>
              <a:srgbClr val="2562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405993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مطوّر آبل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44398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9D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سنوي ٩٩ دولاراً وجهاز ماك لإتمام نشر تطبيق الآيفون.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64B7D"/>
          </a:solidFill>
          <a:ln w="12700">
            <a:solidFill>
              <a:srgbClr val="2562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0" y="405993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8992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 متابعة البلاغات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44398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9D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تكليف موظف بمراجعة بلاغات المحتوى يومياً — شرط بقاء التطبيق في المتاجر.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FA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النصر التقنية — النظام الجامعي الرقمي المتكامل · الإصدار ٢.١.٠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نظام كلية النصر التقنية الرقمي</dc:title>
  <dc:subject>PptxGenJS Presentation</dc:subject>
  <dc:creator>كلية النصر التقنية</dc:creator>
  <cp:lastModifiedBy>كلية النصر التقنية</cp:lastModifiedBy>
  <cp:revision>1</cp:revision>
  <dcterms:created xsi:type="dcterms:W3CDTF">2026-08-30T14:10:49Z</dcterms:created>
  <dcterms:modified xsi:type="dcterms:W3CDTF">2026-08-30T14:10:49Z</dcterms:modified>
</cp:coreProperties>
</file>