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05840"/>
            <a:ext cx="10972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88720"/>
            <a:ext cx="10820095" cy="2926080"/>
          </a:xfrm>
          <a:prstGeom prst="rect">
            <a:avLst/>
          </a:prstGeom>
          <a:noFill/>
        </p:spPr>
        <p:txBody>
          <a:bodyPr wrap="square" tIns="0" bIns="0" lIns="0" rIns="0">
            <a:spAutoFit/>
          </a:bodyPr>
          <a:lstStyle/>
          <a:p>
            <a:pPr algn="r" rtl="1">
              <a:defRPr sz="1500" b="1">
                <a:solidFill>
                  <a:srgbClr val="38BDF8"/>
                </a:solidFill>
                <a:latin typeface="Times New Roman"/>
              </a:defRPr>
            </a:pPr>
            <a:r>
              <a:t>كلية النصر التقنية — جامعة النصر التقنية</a:t>
            </a:r>
          </a:p>
          <a:p>
            <a:pPr algn="r" rtl="1">
              <a:spcBef>
                <a:spcPts val="1000"/>
              </a:spcBef>
              <a:defRPr sz="3800" b="1">
                <a:solidFill>
                  <a:srgbClr val="F8FAFC"/>
                </a:solidFill>
                <a:latin typeface="Times New Roman"/>
              </a:defRPr>
            </a:pPr>
            <a:r>
              <a:t>النظام الجامعي الرقمي المتكامل</a:t>
            </a:r>
          </a:p>
          <a:p>
            <a:pPr algn="r" rtl="1">
              <a:spcBef>
                <a:spcPts val="1400"/>
              </a:spcBef>
              <a:defRPr sz="1500" b="0">
                <a:solidFill>
                  <a:srgbClr val="CBD5E1"/>
                </a:solidFill>
                <a:latin typeface="Times New Roman"/>
              </a:defRPr>
            </a:pPr>
            <a:r>
              <a:t>منصة موحدة وشاملة لإدارة العمليات الأكاديمية والمالية والحضور والتواصل — عبر الويب وتطبيقات الهواتف الذكية</a:t>
            </a:r>
          </a:p>
        </p:txBody>
      </p:sp>
      <p:sp>
        <p:nvSpPr>
          <p:cNvPr id="5" name="Rounded Rectangle 4"/>
          <p:cNvSpPr/>
          <p:nvPr/>
        </p:nvSpPr>
        <p:spPr>
          <a:xfrm>
            <a:off x="8991295" y="4480560"/>
            <a:ext cx="2514600" cy="128016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991295" y="4480560"/>
            <a:ext cx="25146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28455" y="4590288"/>
            <a:ext cx="2240280" cy="1097280"/>
          </a:xfrm>
          <a:prstGeom prst="rect">
            <a:avLst/>
          </a:prstGeom>
          <a:noFill/>
        </p:spPr>
        <p:txBody>
          <a:bodyPr wrap="square" tIns="0" bIns="0" lIns="0" rIns="0">
            <a:spAutoFit/>
          </a:bodyPr>
          <a:lstStyle/>
          <a:p>
            <a:pPr algn="ctr">
              <a:defRPr sz="2600" b="1">
                <a:solidFill>
                  <a:srgbClr val="D97706"/>
                </a:solidFill>
                <a:latin typeface="Times New Roman"/>
              </a:defRPr>
            </a:pPr>
            <a:r>
              <a:t>٥</a:t>
            </a:r>
          </a:p>
          <a:p>
            <a:pPr algn="ctr" rtl="1">
              <a:spcBef>
                <a:spcPts val="200"/>
              </a:spcBef>
              <a:defRPr sz="1300" b="1">
                <a:solidFill>
                  <a:srgbClr val="F8FAFC"/>
                </a:solidFill>
                <a:latin typeface="Times New Roman"/>
              </a:defRPr>
            </a:pPr>
            <a:r>
              <a:t>أدوار بصلاحيات</a:t>
            </a:r>
          </a:p>
          <a:p>
            <a:pPr algn="ctr" rtl="1">
              <a:defRPr sz="1050" b="0">
                <a:solidFill>
                  <a:srgbClr val="94A3B8"/>
                </a:solidFill>
                <a:latin typeface="Times New Roman"/>
              </a:defRPr>
            </a:pPr>
            <a:r>
              <a:t>عزل أمني تام</a:t>
            </a:r>
          </a:p>
        </p:txBody>
      </p:sp>
      <p:sp>
        <p:nvSpPr>
          <p:cNvPr id="8" name="Rounded Rectangle 7"/>
          <p:cNvSpPr/>
          <p:nvPr/>
        </p:nvSpPr>
        <p:spPr>
          <a:xfrm>
            <a:off x="6293815" y="4480560"/>
            <a:ext cx="2514600" cy="128016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3815" y="4480560"/>
            <a:ext cx="2514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4590288"/>
            <a:ext cx="2240280" cy="1097280"/>
          </a:xfrm>
          <a:prstGeom prst="rect">
            <a:avLst/>
          </a:prstGeom>
          <a:noFill/>
        </p:spPr>
        <p:txBody>
          <a:bodyPr wrap="square" tIns="0" bIns="0" lIns="0" rIns="0">
            <a:spAutoFit/>
          </a:bodyPr>
          <a:lstStyle/>
          <a:p>
            <a:pPr algn="ctr">
              <a:defRPr sz="2600" b="1">
                <a:solidFill>
                  <a:srgbClr val="38BDF8"/>
                </a:solidFill>
                <a:latin typeface="Times New Roman"/>
              </a:defRPr>
            </a:pPr>
            <a:r>
              <a:t>٣٠</a:t>
            </a:r>
          </a:p>
          <a:p>
            <a:pPr algn="ctr" rtl="1">
              <a:spcBef>
                <a:spcPts val="200"/>
              </a:spcBef>
              <a:defRPr sz="1300" b="1">
                <a:solidFill>
                  <a:srgbClr val="F8FAFC"/>
                </a:solidFill>
                <a:latin typeface="Times New Roman"/>
              </a:defRPr>
            </a:pPr>
            <a:r>
              <a:t>وحدة خدمية</a:t>
            </a:r>
          </a:p>
          <a:p>
            <a:pPr algn="ctr" rtl="1">
              <a:defRPr sz="1050" b="0">
                <a:solidFill>
                  <a:srgbClr val="94A3B8"/>
                </a:solidFill>
                <a:latin typeface="Times New Roman"/>
              </a:defRPr>
            </a:pPr>
            <a:r>
              <a:t>API Backend</a:t>
            </a:r>
          </a:p>
        </p:txBody>
      </p:sp>
      <p:sp>
        <p:nvSpPr>
          <p:cNvPr id="11" name="Rounded Rectangle 10"/>
          <p:cNvSpPr/>
          <p:nvPr/>
        </p:nvSpPr>
        <p:spPr>
          <a:xfrm>
            <a:off x="3596335" y="4480560"/>
            <a:ext cx="2514600" cy="128016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96335" y="4480560"/>
            <a:ext cx="25146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3495" y="4590288"/>
            <a:ext cx="2240280" cy="1097280"/>
          </a:xfrm>
          <a:prstGeom prst="rect">
            <a:avLst/>
          </a:prstGeom>
          <a:noFill/>
        </p:spPr>
        <p:txBody>
          <a:bodyPr wrap="square" tIns="0" bIns="0" lIns="0" rIns="0">
            <a:spAutoFit/>
          </a:bodyPr>
          <a:lstStyle/>
          <a:p>
            <a:pPr algn="ctr">
              <a:defRPr sz="2600" b="1">
                <a:solidFill>
                  <a:srgbClr val="0F766E"/>
                </a:solidFill>
                <a:latin typeface="Times New Roman"/>
              </a:defRPr>
            </a:pPr>
            <a:r>
              <a:t>٥٠</a:t>
            </a:r>
          </a:p>
          <a:p>
            <a:pPr algn="ctr" rtl="1">
              <a:spcBef>
                <a:spcPts val="200"/>
              </a:spcBef>
              <a:defRPr sz="1300" b="1">
                <a:solidFill>
                  <a:srgbClr val="F8FAFC"/>
                </a:solidFill>
                <a:latin typeface="Times New Roman"/>
              </a:defRPr>
            </a:pPr>
            <a:r>
              <a:t>شاشة تفاعلية</a:t>
            </a:r>
          </a:p>
          <a:p>
            <a:pPr algn="ctr" rtl="1">
              <a:defRPr sz="1050" b="0">
                <a:solidFill>
                  <a:srgbClr val="94A3B8"/>
                </a:solidFill>
                <a:latin typeface="Times New Roman"/>
              </a:defRPr>
            </a:pPr>
            <a:r>
              <a:t>واجهة مستخدم حديثة</a:t>
            </a:r>
          </a:p>
        </p:txBody>
      </p:sp>
      <p:sp>
        <p:nvSpPr>
          <p:cNvPr id="14" name="Rounded Rectangle 13"/>
          <p:cNvSpPr/>
          <p:nvPr/>
        </p:nvSpPr>
        <p:spPr>
          <a:xfrm>
            <a:off x="898855" y="4480560"/>
            <a:ext cx="2514600" cy="128016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8855" y="4480560"/>
            <a:ext cx="2514600" cy="3657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6015" y="4590288"/>
            <a:ext cx="2240280" cy="1097280"/>
          </a:xfrm>
          <a:prstGeom prst="rect">
            <a:avLst/>
          </a:prstGeom>
          <a:noFill/>
        </p:spPr>
        <p:txBody>
          <a:bodyPr wrap="square" tIns="0" bIns="0" lIns="0" rIns="0">
            <a:spAutoFit/>
          </a:bodyPr>
          <a:lstStyle/>
          <a:p>
            <a:pPr algn="ctr">
              <a:defRPr sz="2600" b="1">
                <a:solidFill>
                  <a:srgbClr val="1D4ED8"/>
                </a:solidFill>
                <a:latin typeface="Times New Roman"/>
              </a:defRPr>
            </a:pPr>
            <a:r>
              <a:t>٢.١.٠</a:t>
            </a:r>
          </a:p>
          <a:p>
            <a:pPr algn="ctr" rtl="1">
              <a:spcBef>
                <a:spcPts val="200"/>
              </a:spcBef>
              <a:defRPr sz="1300" b="1">
                <a:solidFill>
                  <a:srgbClr val="F8FAFC"/>
                </a:solidFill>
                <a:latin typeface="Times New Roman"/>
              </a:defRPr>
            </a:pPr>
            <a:r>
              <a:t>الإصدار المعتمد</a:t>
            </a:r>
          </a:p>
          <a:p>
            <a:pPr algn="ctr" rtl="1">
              <a:defRPr sz="1050" b="0">
                <a:solidFill>
                  <a:srgbClr val="94A3B8"/>
                </a:solidFill>
                <a:latin typeface="Times New Roman"/>
              </a:defRPr>
            </a:pPr>
            <a:r>
              <a:t>جاهز للتشغيل الرسمي</a:t>
            </a:r>
          </a:p>
        </p:txBody>
      </p:sp>
      <p:sp>
        <p:nvSpPr>
          <p:cNvPr id="17" name="TextBox 16"/>
          <p:cNvSpPr txBox="1"/>
          <p:nvPr/>
        </p:nvSpPr>
        <p:spPr>
          <a:xfrm>
            <a:off x="685800" y="6126480"/>
            <a:ext cx="10820095" cy="320040"/>
          </a:xfrm>
          <a:prstGeom prst="rect">
            <a:avLst/>
          </a:prstGeom>
          <a:noFill/>
        </p:spPr>
        <p:txBody>
          <a:bodyPr wrap="none">
            <a:spAutoFit/>
          </a:bodyPr>
          <a:lstStyle/>
          <a:p>
            <a:pPr algn="r" rtl="1">
              <a:defRPr sz="1150" b="0">
                <a:solidFill>
                  <a:srgbClr val="64748B"/>
                </a:solidFill>
                <a:latin typeface="Times New Roman"/>
              </a:defRPr>
            </a:pPr>
            <a:r>
              <a:t>عرض تقديمي موجه لمجلس الإدارة الأكاديمية والعمادة الموقرة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الرؤية والدافع</a:t>
            </a:r>
          </a:p>
          <a:p>
            <a:pPr algn="r" rtl="1">
              <a:spcBef>
                <a:spcPts val="300"/>
              </a:spcBef>
              <a:defRPr sz="2500" b="1">
                <a:solidFill>
                  <a:srgbClr val="0F172A"/>
                </a:solidFill>
                <a:latin typeface="Times New Roman"/>
              </a:defRPr>
            </a:pPr>
            <a:r>
              <a:t>التحديات التشغيلية والحلول الجذرية التي يقدمها النظام</a:t>
            </a:r>
          </a:p>
        </p:txBody>
      </p:sp>
      <p:sp>
        <p:nvSpPr>
          <p:cNvPr id="5" name="Rounded Rectangle 4"/>
          <p:cNvSpPr/>
          <p:nvPr/>
        </p:nvSpPr>
        <p:spPr>
          <a:xfrm>
            <a:off x="685800" y="1600200"/>
            <a:ext cx="52578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011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4800600" cy="1719072"/>
          </a:xfrm>
          <a:prstGeom prst="rect">
            <a:avLst/>
          </a:prstGeom>
          <a:noFill/>
        </p:spPr>
        <p:txBody>
          <a:bodyPr wrap="square" tIns="0" bIns="0" lIns="0" rIns="0">
            <a:spAutoFit/>
          </a:bodyPr>
          <a:lstStyle/>
          <a:p>
            <a:pPr algn="r" rtl="1">
              <a:defRPr sz="1100" b="1">
                <a:solidFill>
                  <a:srgbClr val="DC2626"/>
                </a:solidFill>
                <a:latin typeface="Times New Roman"/>
              </a:defRPr>
            </a:pPr>
            <a:r>
              <a:t>حفظ وأرشفة رقمية</a:t>
            </a:r>
          </a:p>
          <a:p>
            <a:pPr algn="r" rtl="1">
              <a:spcBef>
                <a:spcPts val="200"/>
              </a:spcBef>
              <a:defRPr sz="1550" b="1">
                <a:solidFill>
                  <a:srgbClr val="0F172A"/>
                </a:solidFill>
                <a:latin typeface="Times New Roman"/>
              </a:defRPr>
            </a:pPr>
            <a:r>
              <a:t>تشتت المحتوى والمحاضرات</a:t>
            </a:r>
          </a:p>
          <a:p>
            <a:pPr algn="r" rtl="1">
              <a:spcBef>
                <a:spcPts val="500"/>
              </a:spcBef>
              <a:defRPr sz="1150" b="0">
                <a:solidFill>
                  <a:srgbClr val="334155"/>
                </a:solidFill>
                <a:latin typeface="Times New Roman"/>
              </a:defRPr>
            </a:pPr>
            <a:r>
              <a:t>المحاضرات والواجبات موزعة بين مجموعات الواتساب غير الرسمية والأوراق، مما يعرضها للضياع ويصعب أرشفتها.</a:t>
            </a:r>
          </a:p>
        </p:txBody>
      </p:sp>
      <p:sp>
        <p:nvSpPr>
          <p:cNvPr id="8" name="Rounded Rectangle 7"/>
          <p:cNvSpPr/>
          <p:nvPr/>
        </p:nvSpPr>
        <p:spPr>
          <a:xfrm>
            <a:off x="6217920" y="1600200"/>
            <a:ext cx="52578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011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46504"/>
            <a:ext cx="4800600" cy="1719072"/>
          </a:xfrm>
          <a:prstGeom prst="rect">
            <a:avLst/>
          </a:prstGeom>
          <a:noFill/>
        </p:spPr>
        <p:txBody>
          <a:bodyPr wrap="square" tIns="0" bIns="0" lIns="0" rIns="0">
            <a:spAutoFit/>
          </a:bodyPr>
          <a:lstStyle/>
          <a:p>
            <a:pPr algn="r" rtl="1">
              <a:defRPr sz="1100" b="1">
                <a:solidFill>
                  <a:srgbClr val="DC2626"/>
                </a:solidFill>
                <a:latin typeface="Times New Roman"/>
              </a:defRPr>
            </a:pPr>
            <a:r>
              <a:t>متابعة الحضور المسبقة</a:t>
            </a:r>
          </a:p>
          <a:p>
            <a:pPr algn="r" rtl="1">
              <a:spcBef>
                <a:spcPts val="200"/>
              </a:spcBef>
              <a:defRPr sz="1550" b="1">
                <a:solidFill>
                  <a:srgbClr val="0F172A"/>
                </a:solidFill>
                <a:latin typeface="Times New Roman"/>
              </a:defRPr>
            </a:pPr>
            <a:r>
              <a:t>الرصد اليدوي والغياب المفاجئ</a:t>
            </a:r>
          </a:p>
          <a:p>
            <a:pPr algn="r" rtl="1">
              <a:spcBef>
                <a:spcPts val="500"/>
              </a:spcBef>
              <a:defRPr sz="1150" b="0">
                <a:solidFill>
                  <a:srgbClr val="334155"/>
                </a:solidFill>
                <a:latin typeface="Times New Roman"/>
              </a:defRPr>
            </a:pPr>
            <a:r>
              <a:t>كشوف الحضور تُسجل وتُحسب يدوياً دون تنبيه مبكر للطالب قبل تجاوزه النسبة القانونية للحرمان.</a:t>
            </a:r>
          </a:p>
        </p:txBody>
      </p:sp>
      <p:sp>
        <p:nvSpPr>
          <p:cNvPr id="11" name="Rounded Rectangle 10"/>
          <p:cNvSpPr/>
          <p:nvPr/>
        </p:nvSpPr>
        <p:spPr>
          <a:xfrm>
            <a:off x="685800" y="3840480"/>
            <a:ext cx="52578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88736" y="3840480"/>
            <a:ext cx="54864" cy="2011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4"/>
            <a:ext cx="4800600" cy="1719072"/>
          </a:xfrm>
          <a:prstGeom prst="rect">
            <a:avLst/>
          </a:prstGeom>
          <a:noFill/>
        </p:spPr>
        <p:txBody>
          <a:bodyPr wrap="square" tIns="0" bIns="0" lIns="0" rIns="0">
            <a:spAutoFit/>
          </a:bodyPr>
          <a:lstStyle/>
          <a:p>
            <a:pPr algn="r" rtl="1">
              <a:defRPr sz="1100" b="1">
                <a:solidFill>
                  <a:srgbClr val="DC2626"/>
                </a:solidFill>
                <a:latin typeface="Times New Roman"/>
              </a:defRPr>
            </a:pPr>
            <a:r>
              <a:t>سجل مالي مترابط</a:t>
            </a:r>
          </a:p>
          <a:p>
            <a:pPr algn="r" rtl="1">
              <a:spcBef>
                <a:spcPts val="200"/>
              </a:spcBef>
              <a:defRPr sz="1550" b="1">
                <a:solidFill>
                  <a:srgbClr val="0F172A"/>
                </a:solidFill>
                <a:latin typeface="Times New Roman"/>
              </a:defRPr>
            </a:pPr>
            <a:r>
              <a:t>انفصال المالية عن السجل الأكاديمي</a:t>
            </a:r>
          </a:p>
          <a:p>
            <a:pPr algn="r" rtl="1">
              <a:spcBef>
                <a:spcPts val="500"/>
              </a:spcBef>
              <a:defRPr sz="1150" b="0">
                <a:solidFill>
                  <a:srgbClr val="334155"/>
                </a:solidFill>
                <a:latin typeface="Times New Roman"/>
              </a:defRPr>
            </a:pPr>
            <a:r>
              <a:t>الرسوم تُدار في دفاتر منفصلة، ويضطر الطالب للانتظار اليدوي لمعرفة موقفه المالي وإيصالاته.</a:t>
            </a:r>
          </a:p>
        </p:txBody>
      </p:sp>
      <p:sp>
        <p:nvSpPr>
          <p:cNvPr id="14" name="Rounded Rectangle 13"/>
          <p:cNvSpPr/>
          <p:nvPr/>
        </p:nvSpPr>
        <p:spPr>
          <a:xfrm>
            <a:off x="6217920" y="3840480"/>
            <a:ext cx="52578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3840480"/>
            <a:ext cx="54864" cy="2011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986784"/>
            <a:ext cx="4800600" cy="1719072"/>
          </a:xfrm>
          <a:prstGeom prst="rect">
            <a:avLst/>
          </a:prstGeom>
          <a:noFill/>
        </p:spPr>
        <p:txBody>
          <a:bodyPr wrap="square" tIns="0" bIns="0" lIns="0" rIns="0">
            <a:spAutoFit/>
          </a:bodyPr>
          <a:lstStyle/>
          <a:p>
            <a:pPr algn="r" rtl="1">
              <a:defRPr sz="1100" b="1">
                <a:solidFill>
                  <a:srgbClr val="DC2626"/>
                </a:solidFill>
                <a:latin typeface="Times New Roman"/>
              </a:defRPr>
            </a:pPr>
            <a:r>
              <a:t>مصدر بيانات مركزي</a:t>
            </a:r>
          </a:p>
          <a:p>
            <a:pPr algn="r" rtl="1">
              <a:spcBef>
                <a:spcPts val="200"/>
              </a:spcBef>
              <a:defRPr sz="1550" b="1">
                <a:solidFill>
                  <a:srgbClr val="0F172A"/>
                </a:solidFill>
                <a:latin typeface="Times New Roman"/>
              </a:defRPr>
            </a:pPr>
            <a:r>
              <a:t>غياب المصدر الموحد للتقارير والقرار</a:t>
            </a:r>
          </a:p>
          <a:p>
            <a:pPr algn="r" rtl="1">
              <a:spcBef>
                <a:spcPts val="500"/>
              </a:spcBef>
              <a:defRPr sz="1150" b="0">
                <a:solidFill>
                  <a:srgbClr val="334155"/>
                </a:solidFill>
                <a:latin typeface="Times New Roman"/>
              </a:defRPr>
            </a:pPr>
            <a:r>
              <a:t>تعدد مصادر البيانات يعيق استخراج مؤشرات الأداء الحقيقية ويؤخر اتخاذ القرارات الأكاديمية.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نظرة عامة على المشروع</a:t>
            </a:r>
          </a:p>
          <a:p>
            <a:pPr algn="r" rtl="1">
              <a:spcBef>
                <a:spcPts val="300"/>
              </a:spcBef>
              <a:defRPr sz="2500" b="1">
                <a:solidFill>
                  <a:srgbClr val="0F172A"/>
                </a:solidFill>
                <a:latin typeface="Times New Roman"/>
              </a:defRPr>
            </a:pPr>
            <a:r>
              <a:t>النظام في أرقام واقعية مستخرجة من بنية الكود</a:t>
            </a:r>
          </a:p>
        </p:txBody>
      </p:sp>
      <p:sp>
        <p:nvSpPr>
          <p:cNvPr id="5" name="Rounded Rectangle 4"/>
          <p:cNvSpPr/>
          <p:nvPr/>
        </p:nvSpPr>
        <p:spPr>
          <a:xfrm>
            <a:off x="685800" y="1600200"/>
            <a:ext cx="25603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00200"/>
            <a:ext cx="2560320" cy="457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46504"/>
            <a:ext cx="2286000" cy="1536192"/>
          </a:xfrm>
          <a:prstGeom prst="rect">
            <a:avLst/>
          </a:prstGeom>
          <a:noFill/>
        </p:spPr>
        <p:txBody>
          <a:bodyPr wrap="square" tIns="0" bIns="0" lIns="0" rIns="0">
            <a:spAutoFit/>
          </a:bodyPr>
          <a:lstStyle/>
          <a:p>
            <a:pPr algn="ctr">
              <a:defRPr sz="3800" b="1">
                <a:solidFill>
                  <a:srgbClr val="1D4ED8"/>
                </a:solidFill>
                <a:latin typeface="Times New Roman"/>
              </a:defRPr>
            </a:pPr>
            <a:r>
              <a:t>٣٠</a:t>
            </a:r>
          </a:p>
          <a:p>
            <a:pPr algn="ctr" rtl="1">
              <a:spcBef>
                <a:spcPts val="300"/>
              </a:spcBef>
              <a:defRPr sz="1350" b="1">
                <a:solidFill>
                  <a:srgbClr val="0F172A"/>
                </a:solidFill>
                <a:latin typeface="Times New Roman"/>
              </a:defRPr>
            </a:pPr>
            <a:r>
              <a:t>وحدة خدمية (API)</a:t>
            </a:r>
          </a:p>
          <a:p>
            <a:pPr algn="ctr" rtl="1">
              <a:spcBef>
                <a:spcPts val="200"/>
              </a:spcBef>
              <a:defRPr sz="1050" b="0">
                <a:solidFill>
                  <a:srgbClr val="64748B"/>
                </a:solidFill>
                <a:latin typeface="Times New Roman"/>
              </a:defRPr>
            </a:pPr>
            <a:r>
              <a:t>تغطي كافة الاحتياجات الأكاديمية</a:t>
            </a:r>
          </a:p>
        </p:txBody>
      </p:sp>
      <p:sp>
        <p:nvSpPr>
          <p:cNvPr id="8" name="Rounded Rectangle 7"/>
          <p:cNvSpPr/>
          <p:nvPr/>
        </p:nvSpPr>
        <p:spPr>
          <a:xfrm>
            <a:off x="3429000" y="1600200"/>
            <a:ext cx="25603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29000" y="1600200"/>
            <a:ext cx="256032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746504"/>
            <a:ext cx="2286000" cy="1536192"/>
          </a:xfrm>
          <a:prstGeom prst="rect">
            <a:avLst/>
          </a:prstGeom>
          <a:noFill/>
        </p:spPr>
        <p:txBody>
          <a:bodyPr wrap="square" tIns="0" bIns="0" lIns="0" rIns="0">
            <a:spAutoFit/>
          </a:bodyPr>
          <a:lstStyle/>
          <a:p>
            <a:pPr algn="ctr">
              <a:defRPr sz="3800" b="1">
                <a:solidFill>
                  <a:srgbClr val="0F766E"/>
                </a:solidFill>
                <a:latin typeface="Times New Roman"/>
              </a:defRPr>
            </a:pPr>
            <a:r>
              <a:t>٥٠</a:t>
            </a:r>
          </a:p>
          <a:p>
            <a:pPr algn="ctr" rtl="1">
              <a:spcBef>
                <a:spcPts val="300"/>
              </a:spcBef>
              <a:defRPr sz="1350" b="1">
                <a:solidFill>
                  <a:srgbClr val="0F172A"/>
                </a:solidFill>
                <a:latin typeface="Times New Roman"/>
              </a:defRPr>
            </a:pPr>
            <a:r>
              <a:t>شاشة تفاعلية</a:t>
            </a:r>
          </a:p>
          <a:p>
            <a:pPr algn="ctr" rtl="1">
              <a:spcBef>
                <a:spcPts val="200"/>
              </a:spcBef>
              <a:defRPr sz="1050" b="0">
                <a:solidFill>
                  <a:srgbClr val="64748B"/>
                </a:solidFill>
                <a:latin typeface="Times New Roman"/>
              </a:defRPr>
            </a:pPr>
            <a:r>
              <a:t>مصممة للويب والهاتف بسلاسة</a:t>
            </a:r>
          </a:p>
        </p:txBody>
      </p:sp>
      <p:sp>
        <p:nvSpPr>
          <p:cNvPr id="11" name="Rounded Rectangle 10"/>
          <p:cNvSpPr/>
          <p:nvPr/>
        </p:nvSpPr>
        <p:spPr>
          <a:xfrm>
            <a:off x="6172200" y="1600200"/>
            <a:ext cx="25603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600200"/>
            <a:ext cx="256032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746504"/>
            <a:ext cx="2286000" cy="1536192"/>
          </a:xfrm>
          <a:prstGeom prst="rect">
            <a:avLst/>
          </a:prstGeom>
          <a:noFill/>
        </p:spPr>
        <p:txBody>
          <a:bodyPr wrap="square" tIns="0" bIns="0" lIns="0" rIns="0">
            <a:spAutoFit/>
          </a:bodyPr>
          <a:lstStyle/>
          <a:p>
            <a:pPr algn="ctr">
              <a:defRPr sz="3800" b="1">
                <a:solidFill>
                  <a:srgbClr val="7C3AED"/>
                </a:solidFill>
                <a:latin typeface="Times New Roman"/>
              </a:defRPr>
            </a:pPr>
            <a:r>
              <a:t>٢٨</a:t>
            </a:r>
          </a:p>
          <a:p>
            <a:pPr algn="ctr" rtl="1">
              <a:spcBef>
                <a:spcPts val="300"/>
              </a:spcBef>
              <a:defRPr sz="1350" b="1">
                <a:solidFill>
                  <a:srgbClr val="0F172A"/>
                </a:solidFill>
                <a:latin typeface="Times New Roman"/>
              </a:defRPr>
            </a:pPr>
            <a:r>
              <a:t>نموذج بيانات</a:t>
            </a:r>
          </a:p>
          <a:p>
            <a:pPr algn="ctr" rtl="1">
              <a:spcBef>
                <a:spcPts val="200"/>
              </a:spcBef>
              <a:defRPr sz="1050" b="0">
                <a:solidFill>
                  <a:srgbClr val="64748B"/>
                </a:solidFill>
                <a:latin typeface="Times New Roman"/>
              </a:defRPr>
            </a:pPr>
            <a:r>
              <a:t>بنية قوية ومترابطة في MongoDB</a:t>
            </a:r>
          </a:p>
        </p:txBody>
      </p:sp>
      <p:sp>
        <p:nvSpPr>
          <p:cNvPr id="14" name="Rounded Rectangle 13"/>
          <p:cNvSpPr/>
          <p:nvPr/>
        </p:nvSpPr>
        <p:spPr>
          <a:xfrm>
            <a:off x="8915400" y="1600200"/>
            <a:ext cx="25603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15400" y="1600200"/>
            <a:ext cx="2560320"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746504"/>
            <a:ext cx="2286000" cy="1536192"/>
          </a:xfrm>
          <a:prstGeom prst="rect">
            <a:avLst/>
          </a:prstGeom>
          <a:noFill/>
        </p:spPr>
        <p:txBody>
          <a:bodyPr wrap="square" tIns="0" bIns="0" lIns="0" rIns="0">
            <a:spAutoFit/>
          </a:bodyPr>
          <a:lstStyle/>
          <a:p>
            <a:pPr algn="ctr">
              <a:defRPr sz="3800" b="1">
                <a:solidFill>
                  <a:srgbClr val="D97706"/>
                </a:solidFill>
                <a:latin typeface="Times New Roman"/>
              </a:defRPr>
            </a:pPr>
            <a:r>
              <a:t>٥</a:t>
            </a:r>
          </a:p>
          <a:p>
            <a:pPr algn="ctr" rtl="1">
              <a:spcBef>
                <a:spcPts val="300"/>
              </a:spcBef>
              <a:defRPr sz="1350" b="1">
                <a:solidFill>
                  <a:srgbClr val="0F172A"/>
                </a:solidFill>
                <a:latin typeface="Times New Roman"/>
              </a:defRPr>
            </a:pPr>
            <a:r>
              <a:t>أدوار بصلاحيات</a:t>
            </a:r>
          </a:p>
          <a:p>
            <a:pPr algn="ctr" rtl="1">
              <a:spcBef>
                <a:spcPts val="200"/>
              </a:spcBef>
              <a:defRPr sz="1050" b="0">
                <a:solidFill>
                  <a:srgbClr val="64748B"/>
                </a:solidFill>
                <a:latin typeface="Times New Roman"/>
              </a:defRPr>
            </a:pPr>
            <a:r>
              <a:t>عزل أمني تام ومحكم بين المستخدمين</a:t>
            </a:r>
          </a:p>
        </p:txBody>
      </p:sp>
      <p:sp>
        <p:nvSpPr>
          <p:cNvPr id="17" name="Rounded Rectangle 16"/>
          <p:cNvSpPr/>
          <p:nvPr/>
        </p:nvSpPr>
        <p:spPr>
          <a:xfrm>
            <a:off x="685800" y="3886200"/>
            <a:ext cx="107899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3886200"/>
            <a:ext cx="54864" cy="2286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32504"/>
            <a:ext cx="10332720" cy="1993392"/>
          </a:xfrm>
          <a:prstGeom prst="rect">
            <a:avLst/>
          </a:prstGeom>
          <a:noFill/>
        </p:spPr>
        <p:txBody>
          <a:bodyPr wrap="square" tIns="0" bIns="0" lIns="0" rIns="0">
            <a:spAutoFit/>
          </a:bodyPr>
          <a:lstStyle/>
          <a:p>
            <a:pPr algn="r" rtl="1">
              <a:defRPr sz="1100" b="1">
                <a:solidFill>
                  <a:srgbClr val="1D4ED8"/>
                </a:solidFill>
                <a:latin typeface="Times New Roman"/>
              </a:defRPr>
            </a:pPr>
            <a:r>
              <a:t>بنية تقنية موحدة</a:t>
            </a:r>
          </a:p>
          <a:p>
            <a:pPr algn="r" rtl="1">
              <a:spcBef>
                <a:spcPts val="200"/>
              </a:spcBef>
              <a:defRPr sz="1550" b="1">
                <a:solidFill>
                  <a:srgbClr val="0F172A"/>
                </a:solidFill>
                <a:latin typeface="Times New Roman"/>
              </a:defRPr>
            </a:pPr>
            <a:r>
              <a:t>بنية موحدة تخدم الويب وتطبيقات الهواتف (Android &amp; iOS) من مصدر واحد</a:t>
            </a:r>
          </a:p>
          <a:p>
            <a:pPr algn="r" rtl="1">
              <a:spcBef>
                <a:spcPts val="500"/>
              </a:spcBef>
              <a:defRPr sz="1150" b="0">
                <a:solidFill>
                  <a:srgbClr val="334155"/>
                </a:solidFill>
                <a:latin typeface="Times New Roman"/>
              </a:defRPr>
            </a:pPr>
            <a:r>
              <a:t>يعتمد النظام على خادم موحد حديث مبني بـ Node.js و Express وقاعدة بيانات MongoDB، يخدم البوابة الإلكترونية وتطبيقات الهواتف الذكية في وقت واحد. أي تحديث في المقررات أو الإعلانات يصل لجميع المستخدمين فوراً دون الحاجة لإعادة تثبيت التطبيق. كما يدعم العمل بدون اتصال بالإنترنت وحفظ المحاضرات للدراسة في أي وقت.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الحوكمة والأدوار</a:t>
            </a:r>
          </a:p>
          <a:p>
            <a:pPr algn="r" rtl="1">
              <a:spcBef>
                <a:spcPts val="300"/>
              </a:spcBef>
              <a:defRPr sz="2500" b="1">
                <a:solidFill>
                  <a:srgbClr val="0F172A"/>
                </a:solidFill>
                <a:latin typeface="Times New Roman"/>
              </a:defRPr>
            </a:pPr>
            <a:r>
              <a:t>خمسة مستويات صلاحية — عزل أمني دقيق ومفروض برمجياً</a:t>
            </a:r>
          </a:p>
        </p:txBody>
      </p:sp>
      <p:sp>
        <p:nvSpPr>
          <p:cNvPr id="5" name="Rounded Rectangle 4"/>
          <p:cNvSpPr/>
          <p:nvPr/>
        </p:nvSpPr>
        <p:spPr>
          <a:xfrm>
            <a:off x="685800" y="1554480"/>
            <a:ext cx="1078992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20856" y="1554480"/>
            <a:ext cx="54864" cy="84124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0332720" cy="548640"/>
          </a:xfrm>
          <a:prstGeom prst="rect">
            <a:avLst/>
          </a:prstGeom>
          <a:noFill/>
        </p:spPr>
        <p:txBody>
          <a:bodyPr wrap="square" tIns="0" bIns="0" lIns="0" rIns="0">
            <a:spAutoFit/>
          </a:bodyPr>
          <a:lstStyle/>
          <a:p>
            <a:pPr algn="r" rtl="1">
              <a:defRPr sz="1100" b="1">
                <a:solidFill>
                  <a:srgbClr val="1D4ED8"/>
                </a:solidFill>
                <a:latin typeface="Times New Roman"/>
              </a:defRPr>
            </a:pPr>
            <a:r>
              <a:t>الدور الأول</a:t>
            </a:r>
          </a:p>
          <a:p>
            <a:pPr algn="r" rtl="1">
              <a:spcBef>
                <a:spcPts val="200"/>
              </a:spcBef>
              <a:defRPr sz="1550" b="1">
                <a:solidFill>
                  <a:srgbClr val="0F172A"/>
                </a:solidFill>
                <a:latin typeface="Times New Roman"/>
              </a:defRPr>
            </a:pPr>
            <a:r>
              <a:t>الطالب (Student)</a:t>
            </a:r>
          </a:p>
          <a:p>
            <a:pPr algn="r" rtl="1">
              <a:spcBef>
                <a:spcPts val="500"/>
              </a:spcBef>
              <a:defRPr sz="1150" b="0">
                <a:solidFill>
                  <a:srgbClr val="334155"/>
                </a:solidFill>
                <a:latin typeface="Times New Roman"/>
              </a:defRPr>
            </a:pPr>
            <a:r>
              <a:t>الوصول للمواد، المحاضرات والشيتات، تسليم الواجبات، بنك الاختبارات، الحضور، والسجل الأكاديمي والمالي الشخصي.</a:t>
            </a:r>
          </a:p>
        </p:txBody>
      </p:sp>
      <p:sp>
        <p:nvSpPr>
          <p:cNvPr id="8" name="Rounded Rectangle 7"/>
          <p:cNvSpPr/>
          <p:nvPr/>
        </p:nvSpPr>
        <p:spPr>
          <a:xfrm>
            <a:off x="685800" y="2487168"/>
            <a:ext cx="1078992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2487168"/>
            <a:ext cx="54864" cy="8412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33472"/>
            <a:ext cx="10332720" cy="548640"/>
          </a:xfrm>
          <a:prstGeom prst="rect">
            <a:avLst/>
          </a:prstGeom>
          <a:noFill/>
        </p:spPr>
        <p:txBody>
          <a:bodyPr wrap="square" tIns="0" bIns="0" lIns="0" rIns="0">
            <a:spAutoFit/>
          </a:bodyPr>
          <a:lstStyle/>
          <a:p>
            <a:pPr algn="r" rtl="1">
              <a:defRPr sz="1100" b="1">
                <a:solidFill>
                  <a:srgbClr val="7C3AED"/>
                </a:solidFill>
                <a:latin typeface="Times New Roman"/>
              </a:defRPr>
            </a:pPr>
            <a:r>
              <a:t>الدور الثاني</a:t>
            </a:r>
          </a:p>
          <a:p>
            <a:pPr algn="r" rtl="1">
              <a:spcBef>
                <a:spcPts val="200"/>
              </a:spcBef>
              <a:defRPr sz="1550" b="1">
                <a:solidFill>
                  <a:srgbClr val="0F172A"/>
                </a:solidFill>
                <a:latin typeface="Times New Roman"/>
              </a:defRPr>
            </a:pPr>
            <a:r>
              <a:t>قائد الدفعة (Batch Leader)</a:t>
            </a:r>
          </a:p>
          <a:p>
            <a:pPr algn="r" rtl="1">
              <a:spcBef>
                <a:spcPts val="500"/>
              </a:spcBef>
              <a:defRPr sz="1150" b="0">
                <a:solidFill>
                  <a:srgbClr val="334155"/>
                </a:solidFill>
                <a:latin typeface="Times New Roman"/>
              </a:defRPr>
            </a:pPr>
            <a:r>
              <a:t>صلاحيات الطالب، بالإضافة إلى تسهيل رفع محاضرات الدفعة، المساعدة في رصد الحضور، وإرسال التنبيهات المباشرة.</a:t>
            </a:r>
          </a:p>
        </p:txBody>
      </p:sp>
      <p:sp>
        <p:nvSpPr>
          <p:cNvPr id="11" name="Rounded Rectangle 10"/>
          <p:cNvSpPr/>
          <p:nvPr/>
        </p:nvSpPr>
        <p:spPr>
          <a:xfrm>
            <a:off x="685800" y="3419856"/>
            <a:ext cx="1078992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3419856"/>
            <a:ext cx="54864" cy="84124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66160"/>
            <a:ext cx="10332720" cy="548640"/>
          </a:xfrm>
          <a:prstGeom prst="rect">
            <a:avLst/>
          </a:prstGeom>
          <a:noFill/>
        </p:spPr>
        <p:txBody>
          <a:bodyPr wrap="square" tIns="0" bIns="0" lIns="0" rIns="0">
            <a:spAutoFit/>
          </a:bodyPr>
          <a:lstStyle/>
          <a:p>
            <a:pPr algn="r" rtl="1">
              <a:defRPr sz="1100" b="1">
                <a:solidFill>
                  <a:srgbClr val="0F766E"/>
                </a:solidFill>
                <a:latin typeface="Times New Roman"/>
              </a:defRPr>
            </a:pPr>
            <a:r>
              <a:t>الدور الثالث</a:t>
            </a:r>
          </a:p>
          <a:p>
            <a:pPr algn="r" rtl="1">
              <a:spcBef>
                <a:spcPts val="200"/>
              </a:spcBef>
              <a:defRPr sz="1550" b="1">
                <a:solidFill>
                  <a:srgbClr val="0F172A"/>
                </a:solidFill>
                <a:latin typeface="Times New Roman"/>
              </a:defRPr>
            </a:pPr>
            <a:r>
              <a:t>أستاذ المادة (Professor)</a:t>
            </a:r>
          </a:p>
          <a:p>
            <a:pPr algn="r" rtl="1">
              <a:spcBef>
                <a:spcPts val="500"/>
              </a:spcBef>
              <a:defRPr sz="1150" b="0">
                <a:solidFill>
                  <a:srgbClr val="334155"/>
                </a:solidFill>
                <a:latin typeface="Times New Roman"/>
              </a:defRPr>
            </a:pPr>
            <a:r>
              <a:t>إدارة المواد والمحاضرات، إعداد الاختبارات وتحديد مددها، تصحيح وتقييم التكليفات، ورصد الحضور والتقارير الأكاديمية.</a:t>
            </a:r>
          </a:p>
        </p:txBody>
      </p:sp>
      <p:sp>
        <p:nvSpPr>
          <p:cNvPr id="14" name="Rounded Rectangle 13"/>
          <p:cNvSpPr/>
          <p:nvPr/>
        </p:nvSpPr>
        <p:spPr>
          <a:xfrm>
            <a:off x="685800" y="4352544"/>
            <a:ext cx="1078992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4352544"/>
            <a:ext cx="54864" cy="8412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498848"/>
            <a:ext cx="10332720" cy="548640"/>
          </a:xfrm>
          <a:prstGeom prst="rect">
            <a:avLst/>
          </a:prstGeom>
          <a:noFill/>
        </p:spPr>
        <p:txBody>
          <a:bodyPr wrap="square" tIns="0" bIns="0" lIns="0" rIns="0">
            <a:spAutoFit/>
          </a:bodyPr>
          <a:lstStyle/>
          <a:p>
            <a:pPr algn="r" rtl="1">
              <a:defRPr sz="1100" b="1">
                <a:solidFill>
                  <a:srgbClr val="D97706"/>
                </a:solidFill>
                <a:latin typeface="Times New Roman"/>
              </a:defRPr>
            </a:pPr>
            <a:r>
              <a:t>الدور الرابع</a:t>
            </a:r>
          </a:p>
          <a:p>
            <a:pPr algn="r" rtl="1">
              <a:spcBef>
                <a:spcPts val="200"/>
              </a:spcBef>
              <a:defRPr sz="1550" b="1">
                <a:solidFill>
                  <a:srgbClr val="0F172A"/>
                </a:solidFill>
                <a:latin typeface="Times New Roman"/>
              </a:defRPr>
            </a:pPr>
            <a:r>
              <a:t>العميد وإدارة الكلية (Dean)</a:t>
            </a:r>
          </a:p>
          <a:p>
            <a:pPr algn="r" rtl="1">
              <a:spcBef>
                <a:spcPts val="500"/>
              </a:spcBef>
              <a:defRPr sz="1150" b="0">
                <a:solidFill>
                  <a:srgbClr val="334155"/>
                </a:solidFill>
                <a:latin typeface="Times New Roman"/>
              </a:defRPr>
            </a:pPr>
            <a:r>
              <a:t>صلاحيات إشرافية شاملة: إدارة المستخدمين والدفعات، متابعة المالية والرسوم، استخراج التقارير المركزية، ومراجعة البلاغات.</a:t>
            </a:r>
          </a:p>
        </p:txBody>
      </p:sp>
      <p:sp>
        <p:nvSpPr>
          <p:cNvPr id="17" name="Rounded Rectangle 16"/>
          <p:cNvSpPr/>
          <p:nvPr/>
        </p:nvSpPr>
        <p:spPr>
          <a:xfrm>
            <a:off x="685800" y="5285232"/>
            <a:ext cx="1078992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5285232"/>
            <a:ext cx="54864" cy="84124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431536"/>
            <a:ext cx="10332720" cy="548640"/>
          </a:xfrm>
          <a:prstGeom prst="rect">
            <a:avLst/>
          </a:prstGeom>
          <a:noFill/>
        </p:spPr>
        <p:txBody>
          <a:bodyPr wrap="square" tIns="0" bIns="0" lIns="0" rIns="0">
            <a:spAutoFit/>
          </a:bodyPr>
          <a:lstStyle/>
          <a:p>
            <a:pPr algn="r" rtl="1">
              <a:defRPr sz="1100" b="1">
                <a:solidFill>
                  <a:srgbClr val="64748B"/>
                </a:solidFill>
                <a:latin typeface="Times New Roman"/>
              </a:defRPr>
            </a:pPr>
            <a:r>
              <a:t>الدور الخامس</a:t>
            </a:r>
          </a:p>
          <a:p>
            <a:pPr algn="r" rtl="1">
              <a:spcBef>
                <a:spcPts val="200"/>
              </a:spcBef>
              <a:defRPr sz="1550" b="1">
                <a:solidFill>
                  <a:srgbClr val="0F172A"/>
                </a:solidFill>
                <a:latin typeface="Times New Roman"/>
              </a:defRPr>
            </a:pPr>
            <a:r>
              <a:t>مسؤول النظام (System Admin)</a:t>
            </a:r>
          </a:p>
          <a:p>
            <a:pPr algn="r" rtl="1">
              <a:spcBef>
                <a:spcPts val="500"/>
              </a:spcBef>
              <a:defRPr sz="1150" b="0">
                <a:solidFill>
                  <a:srgbClr val="334155"/>
                </a:solidFill>
                <a:latin typeface="Times New Roman"/>
              </a:defRPr>
            </a:pPr>
            <a:r>
              <a:t>المراقبة التشغيلية للخوادم، إدارة النسخ الاحتياطي، ضبط إعدادات الإصدارات، ومتابعة الأداء واستقرار الخدمة.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المحور الأكاديمي</a:t>
            </a:r>
          </a:p>
          <a:p>
            <a:pPr algn="r" rtl="1">
              <a:spcBef>
                <a:spcPts val="300"/>
              </a:spcBef>
              <a:defRPr sz="2500" b="1">
                <a:solidFill>
                  <a:srgbClr val="0F172A"/>
                </a:solidFill>
                <a:latin typeface="Times New Roman"/>
              </a:defRPr>
            </a:pPr>
            <a:r>
              <a:t>إدارة الدورة الأكاديمية من المحاضرة حتى التقييم والرصد</a:t>
            </a:r>
          </a:p>
        </p:txBody>
      </p:sp>
      <p:sp>
        <p:nvSpPr>
          <p:cNvPr id="5" name="Rounded Rectangle 4"/>
          <p:cNvSpPr/>
          <p:nvPr/>
        </p:nvSpPr>
        <p:spPr>
          <a:xfrm>
            <a:off x="685800" y="1600200"/>
            <a:ext cx="25603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91256" y="1600200"/>
            <a:ext cx="54864"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2103120" cy="1901952"/>
          </a:xfrm>
          <a:prstGeom prst="rect">
            <a:avLst/>
          </a:prstGeom>
          <a:noFill/>
        </p:spPr>
        <p:txBody>
          <a:bodyPr wrap="square" tIns="0" bIns="0" lIns="0" rIns="0">
            <a:spAutoFit/>
          </a:bodyPr>
          <a:lstStyle/>
          <a:p>
            <a:pPr algn="r" rtl="1">
              <a:defRPr sz="1100" b="1">
                <a:solidFill>
                  <a:srgbClr val="1D4ED8"/>
                </a:solidFill>
                <a:latin typeface="Times New Roman"/>
              </a:defRPr>
            </a:pPr>
            <a:r>
              <a:t>المرحلة 1</a:t>
            </a:r>
          </a:p>
          <a:p>
            <a:pPr algn="r" rtl="1">
              <a:spcBef>
                <a:spcPts val="200"/>
              </a:spcBef>
              <a:defRPr sz="1550" b="1">
                <a:solidFill>
                  <a:srgbClr val="0F172A"/>
                </a:solidFill>
                <a:latin typeface="Times New Roman"/>
              </a:defRPr>
            </a:pPr>
            <a:r>
              <a:t>المواد والدفعات</a:t>
            </a:r>
          </a:p>
          <a:p>
            <a:pPr algn="r" rtl="1">
              <a:spcBef>
                <a:spcPts val="500"/>
              </a:spcBef>
              <a:defRPr sz="1150" b="0">
                <a:solidFill>
                  <a:srgbClr val="334155"/>
                </a:solidFill>
                <a:latin typeface="Times New Roman"/>
              </a:defRPr>
            </a:pPr>
            <a:r>
              <a:t>إنشاء الدفعات وتخصيص المواد وإسناد الأساتذة المختصين.</a:t>
            </a:r>
          </a:p>
        </p:txBody>
      </p:sp>
      <p:sp>
        <p:nvSpPr>
          <p:cNvPr id="8" name="Rounded Rectangle 7"/>
          <p:cNvSpPr/>
          <p:nvPr/>
        </p:nvSpPr>
        <p:spPr>
          <a:xfrm>
            <a:off x="3429000" y="1600200"/>
            <a:ext cx="25603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34456" y="1600200"/>
            <a:ext cx="54864"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746504"/>
            <a:ext cx="2103120" cy="1901952"/>
          </a:xfrm>
          <a:prstGeom prst="rect">
            <a:avLst/>
          </a:prstGeom>
          <a:noFill/>
        </p:spPr>
        <p:txBody>
          <a:bodyPr wrap="square" tIns="0" bIns="0" lIns="0" rIns="0">
            <a:spAutoFit/>
          </a:bodyPr>
          <a:lstStyle/>
          <a:p>
            <a:pPr algn="r" rtl="1">
              <a:defRPr sz="1100" b="1">
                <a:solidFill>
                  <a:srgbClr val="1D4ED8"/>
                </a:solidFill>
                <a:latin typeface="Times New Roman"/>
              </a:defRPr>
            </a:pPr>
            <a:r>
              <a:t>المرحلة 2</a:t>
            </a:r>
          </a:p>
          <a:p>
            <a:pPr algn="r" rtl="1">
              <a:spcBef>
                <a:spcPts val="200"/>
              </a:spcBef>
              <a:defRPr sz="1550" b="1">
                <a:solidFill>
                  <a:srgbClr val="0F172A"/>
                </a:solidFill>
                <a:latin typeface="Times New Roman"/>
              </a:defRPr>
            </a:pPr>
            <a:r>
              <a:t>رفع المحاضرات</a:t>
            </a:r>
          </a:p>
          <a:p>
            <a:pPr algn="r" rtl="1">
              <a:spcBef>
                <a:spcPts val="500"/>
              </a:spcBef>
              <a:defRPr sz="1150" b="0">
                <a:solidFill>
                  <a:srgbClr val="334155"/>
                </a:solidFill>
                <a:latin typeface="Times New Roman"/>
              </a:defRPr>
            </a:pPr>
            <a:r>
              <a:t>رفع ملفات PDF والفيديوهات مع ترتيب تسلسلي وإمكانية الحفظ للعمل دون اتصال.</a:t>
            </a:r>
          </a:p>
        </p:txBody>
      </p:sp>
      <p:sp>
        <p:nvSpPr>
          <p:cNvPr id="11" name="Rounded Rectangle 10"/>
          <p:cNvSpPr/>
          <p:nvPr/>
        </p:nvSpPr>
        <p:spPr>
          <a:xfrm>
            <a:off x="6172200" y="1600200"/>
            <a:ext cx="25603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77656" y="1600200"/>
            <a:ext cx="54864"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46504"/>
            <a:ext cx="2103120" cy="1901952"/>
          </a:xfrm>
          <a:prstGeom prst="rect">
            <a:avLst/>
          </a:prstGeom>
          <a:noFill/>
        </p:spPr>
        <p:txBody>
          <a:bodyPr wrap="square" tIns="0" bIns="0" lIns="0" rIns="0">
            <a:spAutoFit/>
          </a:bodyPr>
          <a:lstStyle/>
          <a:p>
            <a:pPr algn="r" rtl="1">
              <a:defRPr sz="1100" b="1">
                <a:solidFill>
                  <a:srgbClr val="1D4ED8"/>
                </a:solidFill>
                <a:latin typeface="Times New Roman"/>
              </a:defRPr>
            </a:pPr>
            <a:r>
              <a:t>المرحلة 3</a:t>
            </a:r>
          </a:p>
          <a:p>
            <a:pPr algn="r" rtl="1">
              <a:spcBef>
                <a:spcPts val="200"/>
              </a:spcBef>
              <a:defRPr sz="1550" b="1">
                <a:solidFill>
                  <a:srgbClr val="0F172A"/>
                </a:solidFill>
                <a:latin typeface="Times New Roman"/>
              </a:defRPr>
            </a:pPr>
            <a:r>
              <a:t>التكليفات والواجبات</a:t>
            </a:r>
          </a:p>
          <a:p>
            <a:pPr algn="r" rtl="1">
              <a:spcBef>
                <a:spcPts val="500"/>
              </a:spcBef>
              <a:defRPr sz="1150" b="0">
                <a:solidFill>
                  <a:srgbClr val="334155"/>
                </a:solidFill>
                <a:latin typeface="Times New Roman"/>
              </a:defRPr>
            </a:pPr>
            <a:r>
              <a:t>طرح الواجبات بموعد استحقاق محدد، ورفع الحلول مع منع التأخير التلقائي.</a:t>
            </a:r>
          </a:p>
        </p:txBody>
      </p:sp>
      <p:sp>
        <p:nvSpPr>
          <p:cNvPr id="14" name="Rounded Rectangle 13"/>
          <p:cNvSpPr/>
          <p:nvPr/>
        </p:nvSpPr>
        <p:spPr>
          <a:xfrm>
            <a:off x="8915400" y="1600200"/>
            <a:ext cx="25603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1600200"/>
            <a:ext cx="54864"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1746504"/>
            <a:ext cx="2103120" cy="1901952"/>
          </a:xfrm>
          <a:prstGeom prst="rect">
            <a:avLst/>
          </a:prstGeom>
          <a:noFill/>
        </p:spPr>
        <p:txBody>
          <a:bodyPr wrap="square" tIns="0" bIns="0" lIns="0" rIns="0">
            <a:spAutoFit/>
          </a:bodyPr>
          <a:lstStyle/>
          <a:p>
            <a:pPr algn="r" rtl="1">
              <a:defRPr sz="1100" b="1">
                <a:solidFill>
                  <a:srgbClr val="1D4ED8"/>
                </a:solidFill>
                <a:latin typeface="Times New Roman"/>
              </a:defRPr>
            </a:pPr>
            <a:r>
              <a:t>المرحلة 4</a:t>
            </a:r>
          </a:p>
          <a:p>
            <a:pPr algn="r" rtl="1">
              <a:spcBef>
                <a:spcPts val="200"/>
              </a:spcBef>
              <a:defRPr sz="1550" b="1">
                <a:solidFill>
                  <a:srgbClr val="0F172A"/>
                </a:solidFill>
                <a:latin typeface="Times New Roman"/>
              </a:defRPr>
            </a:pPr>
            <a:r>
              <a:t>التصحيح والرصد</a:t>
            </a:r>
          </a:p>
          <a:p>
            <a:pPr algn="r" rtl="1">
              <a:spcBef>
                <a:spcPts val="500"/>
              </a:spcBef>
              <a:defRPr sz="1150" b="0">
                <a:solidFill>
                  <a:srgbClr val="334155"/>
                </a:solidFill>
                <a:latin typeface="Times New Roman"/>
              </a:defRPr>
            </a:pPr>
            <a:r>
              <a:t>رصد الدرجات وكتابة الملاحظات مع إشعار الطالب بالنتيجة لحظياً.</a:t>
            </a:r>
          </a:p>
        </p:txBody>
      </p:sp>
      <p:sp>
        <p:nvSpPr>
          <p:cNvPr id="17" name="Rounded Rectangle 16"/>
          <p:cNvSpPr/>
          <p:nvPr/>
        </p:nvSpPr>
        <p:spPr>
          <a:xfrm>
            <a:off x="685800" y="4114800"/>
            <a:ext cx="52578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88736" y="4114800"/>
            <a:ext cx="54864" cy="2011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61104"/>
            <a:ext cx="4800600" cy="1719072"/>
          </a:xfrm>
          <a:prstGeom prst="rect">
            <a:avLst/>
          </a:prstGeom>
          <a:noFill/>
        </p:spPr>
        <p:txBody>
          <a:bodyPr wrap="square" tIns="0" bIns="0" lIns="0" rIns="0">
            <a:spAutoFit/>
          </a:bodyPr>
          <a:lstStyle/>
          <a:p>
            <a:pPr algn="r" rtl="1">
              <a:defRPr sz="1100" b="1">
                <a:solidFill>
                  <a:srgbClr val="D97706"/>
                </a:solidFill>
                <a:latin typeface="Times New Roman"/>
              </a:defRPr>
            </a:pPr>
            <a:r>
              <a:t>تحسين التحصيل الأكاديمي</a:t>
            </a:r>
          </a:p>
          <a:p>
            <a:pPr algn="r" rtl="1">
              <a:spcBef>
                <a:spcPts val="200"/>
              </a:spcBef>
              <a:defRPr sz="1550" b="1">
                <a:solidFill>
                  <a:srgbClr val="0F172A"/>
                </a:solidFill>
                <a:latin typeface="Times New Roman"/>
              </a:defRPr>
            </a:pPr>
            <a:r>
              <a:t>إعادة التسليم لتحسين التحصيل الأكاديمي</a:t>
            </a:r>
          </a:p>
          <a:p>
            <a:pPr algn="r" rtl="1">
              <a:spcBef>
                <a:spcPts val="500"/>
              </a:spcBef>
              <a:defRPr sz="1150" b="0">
                <a:solidFill>
                  <a:srgbClr val="334155"/>
                </a:solidFill>
                <a:latin typeface="Times New Roman"/>
              </a:defRPr>
            </a:pPr>
            <a:r>
              <a:t>يمنح النظام فرصة للطلاب الحاصلين على أقل من 60% لإعادة تسليم التكليف خلال مهلة محددة (7 أيام) مع وسم المحاولة كمتأخرة أمام الأستاذ لضمان العدالة.</a:t>
            </a:r>
          </a:p>
        </p:txBody>
      </p:sp>
      <p:sp>
        <p:nvSpPr>
          <p:cNvPr id="20" name="Rounded Rectangle 19"/>
          <p:cNvSpPr/>
          <p:nvPr/>
        </p:nvSpPr>
        <p:spPr>
          <a:xfrm>
            <a:off x="6217920" y="4114800"/>
            <a:ext cx="52578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20856" y="4114800"/>
            <a:ext cx="54864"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261104"/>
            <a:ext cx="4800600" cy="1719072"/>
          </a:xfrm>
          <a:prstGeom prst="rect">
            <a:avLst/>
          </a:prstGeom>
          <a:noFill/>
        </p:spPr>
        <p:txBody>
          <a:bodyPr wrap="square" tIns="0" bIns="0" lIns="0" rIns="0">
            <a:spAutoFit/>
          </a:bodyPr>
          <a:lstStyle/>
          <a:p>
            <a:pPr algn="r" rtl="1">
              <a:defRPr sz="1100" b="1">
                <a:solidFill>
                  <a:srgbClr val="0F766E"/>
                </a:solidFill>
                <a:latin typeface="Times New Roman"/>
              </a:defRPr>
            </a:pPr>
            <a:r>
              <a:t>المتابعة المستمرة للواجبات</a:t>
            </a:r>
          </a:p>
          <a:p>
            <a:pPr algn="r" rtl="1">
              <a:spcBef>
                <a:spcPts val="200"/>
              </a:spcBef>
              <a:defRPr sz="1550" b="1">
                <a:solidFill>
                  <a:srgbClr val="0F172A"/>
                </a:solidFill>
                <a:latin typeface="Times New Roman"/>
              </a:defRPr>
            </a:pPr>
            <a:r>
              <a:t>لوحة المتابعة للواجبات غير المسلمة</a:t>
            </a:r>
          </a:p>
          <a:p>
            <a:pPr algn="r" rtl="1">
              <a:spcBef>
                <a:spcPts val="500"/>
              </a:spcBef>
              <a:defRPr sz="1150" b="0">
                <a:solidFill>
                  <a:srgbClr val="334155"/>
                </a:solidFill>
                <a:latin typeface="Times New Roman"/>
              </a:defRPr>
            </a:pPr>
            <a:r>
              <a:t>تمكّن الأستاذ من استعراض قائمة الطلاب الذين لم يقوموا بتسليم الواجب بضغطة زر واحدة لتوجيه التذكيرات لهم قبل إغلاق الموعد النهائي.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حماية التحصيل الأكاديمي</a:t>
            </a:r>
          </a:p>
          <a:p>
            <a:pPr algn="r" rtl="1">
              <a:spcBef>
                <a:spcPts val="300"/>
              </a:spcBef>
              <a:defRPr sz="2500" b="1">
                <a:solidFill>
                  <a:srgbClr val="0F172A"/>
                </a:solidFill>
                <a:latin typeface="Times New Roman"/>
              </a:defRPr>
            </a:pPr>
            <a:r>
              <a:t>رصد الحضور الإلكتروني ونظام الإنذار المبكر للطلاب المتعثرين</a:t>
            </a:r>
          </a:p>
        </p:txBody>
      </p:sp>
      <p:sp>
        <p:nvSpPr>
          <p:cNvPr id="5" name="Rounded Rectangle 4"/>
          <p:cNvSpPr/>
          <p:nvPr/>
        </p:nvSpPr>
        <p:spPr>
          <a:xfrm>
            <a:off x="685800" y="1600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4800600" cy="1764792"/>
          </a:xfrm>
          <a:prstGeom prst="rect">
            <a:avLst/>
          </a:prstGeom>
          <a:noFill/>
        </p:spPr>
        <p:txBody>
          <a:bodyPr wrap="square" tIns="0" bIns="0" lIns="0" rIns="0">
            <a:spAutoFit/>
          </a:bodyPr>
          <a:lstStyle/>
          <a:p>
            <a:pPr algn="r" rtl="1">
              <a:defRPr sz="1100" b="1">
                <a:solidFill>
                  <a:srgbClr val="0F766E"/>
                </a:solidFill>
                <a:latin typeface="Times New Roman"/>
              </a:defRPr>
            </a:pPr>
            <a:r>
              <a:t>الرصد الإلكتروني اليومي</a:t>
            </a:r>
          </a:p>
          <a:p>
            <a:pPr algn="r" rtl="1">
              <a:spcBef>
                <a:spcPts val="200"/>
              </a:spcBef>
              <a:defRPr sz="1550" b="1">
                <a:solidFill>
                  <a:srgbClr val="0F172A"/>
                </a:solidFill>
                <a:latin typeface="Times New Roman"/>
              </a:defRPr>
            </a:pPr>
            <a:r>
              <a:t>رصد الحضور اليومي السريع</a:t>
            </a:r>
          </a:p>
          <a:p>
            <a:pPr algn="r" rtl="1">
              <a:spcBef>
                <a:spcPts val="500"/>
              </a:spcBef>
              <a:defRPr sz="1150" b="0">
                <a:solidFill>
                  <a:srgbClr val="334155"/>
                </a:solidFill>
                <a:latin typeface="Times New Roman"/>
              </a:defRPr>
            </a:pPr>
            <a:r>
              <a:t>يقوم الأستاذ أو قائد الدفعة بتسجيل الحضور بضغطة زر لكل محاضرة. يعتمد النظام سجلاً موحداً يمنع تكرار الرصد ويوثق هوية الراصد وتوقيت العملية بدقة.</a:t>
            </a:r>
          </a:p>
        </p:txBody>
      </p:sp>
      <p:sp>
        <p:nvSpPr>
          <p:cNvPr id="8" name="Rounded Rectangle 7"/>
          <p:cNvSpPr/>
          <p:nvPr/>
        </p:nvSpPr>
        <p:spPr>
          <a:xfrm>
            <a:off x="6217920" y="1600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057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46504"/>
            <a:ext cx="4800600" cy="1764792"/>
          </a:xfrm>
          <a:prstGeom prst="rect">
            <a:avLst/>
          </a:prstGeom>
          <a:noFill/>
        </p:spPr>
        <p:txBody>
          <a:bodyPr wrap="square" tIns="0" bIns="0" lIns="0" rIns="0">
            <a:spAutoFit/>
          </a:bodyPr>
          <a:lstStyle/>
          <a:p>
            <a:pPr algn="r" rtl="1">
              <a:defRPr sz="1100" b="1">
                <a:solidFill>
                  <a:srgbClr val="DC2626"/>
                </a:solidFill>
                <a:latin typeface="Times New Roman"/>
              </a:defRPr>
            </a:pPr>
            <a:r>
              <a:t>الإنذار الآلي المبكر</a:t>
            </a:r>
          </a:p>
          <a:p>
            <a:pPr algn="r" rtl="1">
              <a:spcBef>
                <a:spcPts val="200"/>
              </a:spcBef>
              <a:defRPr sz="1550" b="1">
                <a:solidFill>
                  <a:srgbClr val="0F172A"/>
                </a:solidFill>
                <a:latin typeface="Times New Roman"/>
              </a:defRPr>
            </a:pPr>
            <a:r>
              <a:t>التنبيه الآلي عند تخطي حاجز الغياب</a:t>
            </a:r>
          </a:p>
          <a:p>
            <a:pPr algn="r" rtl="1">
              <a:spcBef>
                <a:spcPts val="500"/>
              </a:spcBef>
              <a:defRPr sz="1150" b="0">
                <a:solidFill>
                  <a:srgbClr val="334155"/>
                </a:solidFill>
                <a:latin typeface="Times New Roman"/>
              </a:defRPr>
            </a:pPr>
            <a:r>
              <a:t>بمجرد انخفاض نسبة حضور الطالب إلى أقل من 75%، يقوم النظام تلقائياً بإرسال تنبيه مباشر إلى هاتفه يحذره من مخاطر الحرمان من الامتحان النهائي.</a:t>
            </a:r>
          </a:p>
        </p:txBody>
      </p:sp>
      <p:sp>
        <p:nvSpPr>
          <p:cNvPr id="11" name="Rounded Rectangle 10"/>
          <p:cNvSpPr/>
          <p:nvPr/>
        </p:nvSpPr>
        <p:spPr>
          <a:xfrm>
            <a:off x="685800" y="3977639"/>
            <a:ext cx="1078992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3977639"/>
            <a:ext cx="54864" cy="2240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23944"/>
            <a:ext cx="10332720" cy="1947672"/>
          </a:xfrm>
          <a:prstGeom prst="rect">
            <a:avLst/>
          </a:prstGeom>
          <a:noFill/>
        </p:spPr>
        <p:txBody>
          <a:bodyPr wrap="square" tIns="0" bIns="0" lIns="0" rIns="0">
            <a:spAutoFit/>
          </a:bodyPr>
          <a:lstStyle/>
          <a:p>
            <a:pPr algn="r" rtl="1">
              <a:defRPr sz="1100" b="1">
                <a:solidFill>
                  <a:srgbClr val="0A192F"/>
                </a:solidFill>
                <a:latin typeface="Times New Roman"/>
              </a:defRPr>
            </a:pPr>
            <a:r>
              <a:t>حوكمة ومتابعة استباقية</a:t>
            </a:r>
          </a:p>
          <a:p>
            <a:pPr algn="r" rtl="1">
              <a:spcBef>
                <a:spcPts val="200"/>
              </a:spcBef>
              <a:defRPr sz="1550" b="1">
                <a:solidFill>
                  <a:srgbClr val="0F172A"/>
                </a:solidFill>
                <a:latin typeface="Times New Roman"/>
              </a:defRPr>
            </a:pPr>
            <a:r>
              <a:t>تقرير الإنذار المبكر الاستباقي (Early Warning System)</a:t>
            </a:r>
          </a:p>
          <a:p>
            <a:pPr algn="r" rtl="1">
              <a:spcBef>
                <a:spcPts val="500"/>
              </a:spcBef>
              <a:defRPr sz="1150" b="0">
                <a:solidFill>
                  <a:srgbClr val="334155"/>
                </a:solidFill>
                <a:latin typeface="Times New Roman"/>
              </a:defRPr>
            </a:pPr>
            <a:r>
              <a:t>لوحة استخبارات أكاديمية متقدمة للعميد ورؤساء الأقسام تجمع 3 محاور أساسية: (معدل تراجع الحضور + تراكم الواجبات غير المسلمة + نتائج الاختبارات الدورية). يصنف التقرير الطلاب إلى 3 مستويات خطر (مرتفع، متوسط، منخفض) ليتيح للكلية التدخل الإرشادي المبكر ومعالجة تعثر الطالب قبل الامتحانات النهائية.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التقييم المستمر</a:t>
            </a:r>
          </a:p>
          <a:p>
            <a:pPr algn="r" rtl="1">
              <a:spcBef>
                <a:spcPts val="300"/>
              </a:spcBef>
              <a:defRPr sz="2500" b="1">
                <a:solidFill>
                  <a:srgbClr val="0F172A"/>
                </a:solidFill>
                <a:latin typeface="Times New Roman"/>
              </a:defRPr>
            </a:pPr>
            <a:r>
              <a:t>منظومة الاختبارات الإلكترونية وأرشيف بنك الامتحانات السابقة</a:t>
            </a:r>
          </a:p>
        </p:txBody>
      </p:sp>
      <p:sp>
        <p:nvSpPr>
          <p:cNvPr id="5" name="Rounded Rectangle 4"/>
          <p:cNvSpPr/>
          <p:nvPr/>
        </p:nvSpPr>
        <p:spPr>
          <a:xfrm>
            <a:off x="685800" y="1600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057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4800600" cy="1764792"/>
          </a:xfrm>
          <a:prstGeom prst="rect">
            <a:avLst/>
          </a:prstGeom>
          <a:noFill/>
        </p:spPr>
        <p:txBody>
          <a:bodyPr wrap="square" tIns="0" bIns="0" lIns="0" rIns="0">
            <a:spAutoFit/>
          </a:bodyPr>
          <a:lstStyle/>
          <a:p>
            <a:pPr algn="r" rtl="1">
              <a:defRPr sz="1100" b="1">
                <a:solidFill>
                  <a:srgbClr val="1D4ED8"/>
                </a:solidFill>
                <a:latin typeface="Times New Roman"/>
              </a:defRPr>
            </a:pPr>
            <a:r>
              <a:t>اختبارات موقوتة</a:t>
            </a:r>
          </a:p>
          <a:p>
            <a:pPr algn="r" rtl="1">
              <a:spcBef>
                <a:spcPts val="200"/>
              </a:spcBef>
              <a:defRPr sz="1550" b="1">
                <a:solidFill>
                  <a:srgbClr val="0F172A"/>
                </a:solidFill>
                <a:latin typeface="Times New Roman"/>
              </a:defRPr>
            </a:pPr>
            <a:r>
              <a:t>اختبارات دورية موقوتة من الخادم</a:t>
            </a:r>
          </a:p>
          <a:p>
            <a:pPr algn="r" rtl="1">
              <a:spcBef>
                <a:spcPts val="500"/>
              </a:spcBef>
              <a:defRPr sz="1150" b="0">
                <a:solidFill>
                  <a:srgbClr val="334155"/>
                </a:solidFill>
                <a:latin typeface="Times New Roman"/>
              </a:defRPr>
            </a:pPr>
            <a:r>
              <a:t>يحدد الأستاذ نافذة إتاحة الاختبار ومدته بالدقائق. يتم احتساب الوقت بدقة عبر الخادم لضمان عدم التلاعب بالمؤقت حتى لو أُغلقت الصفحة.</a:t>
            </a:r>
          </a:p>
        </p:txBody>
      </p:sp>
      <p:sp>
        <p:nvSpPr>
          <p:cNvPr id="8" name="Rounded Rectangle 7"/>
          <p:cNvSpPr/>
          <p:nvPr/>
        </p:nvSpPr>
        <p:spPr>
          <a:xfrm>
            <a:off x="6217920" y="1600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46504"/>
            <a:ext cx="4800600" cy="1764792"/>
          </a:xfrm>
          <a:prstGeom prst="rect">
            <a:avLst/>
          </a:prstGeom>
          <a:noFill/>
        </p:spPr>
        <p:txBody>
          <a:bodyPr wrap="square" tIns="0" bIns="0" lIns="0" rIns="0">
            <a:spAutoFit/>
          </a:bodyPr>
          <a:lstStyle/>
          <a:p>
            <a:pPr algn="r" rtl="1">
              <a:defRPr sz="1100" b="1">
                <a:solidFill>
                  <a:srgbClr val="0F766E"/>
                </a:solidFill>
                <a:latin typeface="Times New Roman"/>
              </a:defRPr>
            </a:pPr>
            <a:r>
              <a:t>تصحيح آلي فوري</a:t>
            </a:r>
          </a:p>
          <a:p>
            <a:pPr algn="r" rtl="1">
              <a:spcBef>
                <a:spcPts val="200"/>
              </a:spcBef>
              <a:defRPr sz="1550" b="1">
                <a:solidFill>
                  <a:srgbClr val="0F172A"/>
                </a:solidFill>
                <a:latin typeface="Times New Roman"/>
              </a:defRPr>
            </a:pPr>
            <a:r>
              <a:t>تصحيح آلي فوري وإعلان النتائج</a:t>
            </a:r>
          </a:p>
          <a:p>
            <a:pPr algn="r" rtl="1">
              <a:spcBef>
                <a:spcPts val="500"/>
              </a:spcBef>
              <a:defRPr sz="1150" b="0">
                <a:solidFill>
                  <a:srgbClr val="334155"/>
                </a:solidFill>
                <a:latin typeface="Times New Roman"/>
              </a:defRPr>
            </a:pPr>
            <a:r>
              <a:t>أسئلة اختيار من متعدد مع درجات مخصصة وتغذية راجعة، وتظهر النتيجة مع تفاصيل الإجابات الصحيحة لحظة التسليم فوراً.</a:t>
            </a:r>
          </a:p>
        </p:txBody>
      </p:sp>
      <p:sp>
        <p:nvSpPr>
          <p:cNvPr id="11" name="Rounded Rectangle 10"/>
          <p:cNvSpPr/>
          <p:nvPr/>
        </p:nvSpPr>
        <p:spPr>
          <a:xfrm>
            <a:off x="68580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88736" y="3886200"/>
            <a:ext cx="54864" cy="2057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32504"/>
            <a:ext cx="4800600" cy="1764792"/>
          </a:xfrm>
          <a:prstGeom prst="rect">
            <a:avLst/>
          </a:prstGeom>
          <a:noFill/>
        </p:spPr>
        <p:txBody>
          <a:bodyPr wrap="square" tIns="0" bIns="0" lIns="0" rIns="0">
            <a:spAutoFit/>
          </a:bodyPr>
          <a:lstStyle/>
          <a:p>
            <a:pPr algn="r" rtl="1">
              <a:defRPr sz="1100" b="1">
                <a:solidFill>
                  <a:srgbClr val="7C3AED"/>
                </a:solidFill>
                <a:latin typeface="Times New Roman"/>
              </a:defRPr>
            </a:pPr>
            <a:r>
              <a:t>أرشيف الامتحانات</a:t>
            </a:r>
          </a:p>
          <a:p>
            <a:pPr algn="r" rtl="1">
              <a:spcBef>
                <a:spcPts val="200"/>
              </a:spcBef>
              <a:defRPr sz="1550" b="1">
                <a:solidFill>
                  <a:srgbClr val="0F172A"/>
                </a:solidFill>
                <a:latin typeface="Times New Roman"/>
              </a:defRPr>
            </a:pPr>
            <a:r>
              <a:t>بنك الامتحانات النهائية السابقة</a:t>
            </a:r>
          </a:p>
          <a:p>
            <a:pPr algn="r" rtl="1">
              <a:spcBef>
                <a:spcPts val="500"/>
              </a:spcBef>
              <a:defRPr sz="1150" b="0">
                <a:solidFill>
                  <a:srgbClr val="334155"/>
                </a:solidFill>
                <a:latin typeface="Times New Roman"/>
              </a:defRPr>
            </a:pPr>
            <a:r>
              <a:t>أرشيف رقمي منظم يحتوي على نماذج امتحانات السنوات السابقة مصنفة حسب المادة والفصل الدراسي لتمكين الطلاب من الاستعداد الأمثل.</a:t>
            </a:r>
          </a:p>
        </p:txBody>
      </p:sp>
      <p:sp>
        <p:nvSpPr>
          <p:cNvPr id="14" name="Rounded Rectangle 13"/>
          <p:cNvSpPr/>
          <p:nvPr/>
        </p:nvSpPr>
        <p:spPr>
          <a:xfrm>
            <a:off x="621792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3886200"/>
            <a:ext cx="54864" cy="2057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32504"/>
            <a:ext cx="4800600" cy="1764792"/>
          </a:xfrm>
          <a:prstGeom prst="rect">
            <a:avLst/>
          </a:prstGeom>
          <a:noFill/>
        </p:spPr>
        <p:txBody>
          <a:bodyPr wrap="square" tIns="0" bIns="0" lIns="0" rIns="0">
            <a:spAutoFit/>
          </a:bodyPr>
          <a:lstStyle/>
          <a:p>
            <a:pPr algn="r" rtl="1">
              <a:defRPr sz="1100" b="1">
                <a:solidFill>
                  <a:srgbClr val="D97706"/>
                </a:solidFill>
                <a:latin typeface="Times New Roman"/>
              </a:defRPr>
            </a:pPr>
            <a:r>
              <a:t>محاكاة وتشخيص</a:t>
            </a:r>
          </a:p>
          <a:p>
            <a:pPr algn="r" rtl="1">
              <a:spcBef>
                <a:spcPts val="200"/>
              </a:spcBef>
              <a:defRPr sz="1550" b="1">
                <a:solidFill>
                  <a:srgbClr val="0F172A"/>
                </a:solidFill>
                <a:latin typeface="Times New Roman"/>
              </a:defRPr>
            </a:pPr>
            <a:r>
              <a:t>محاكاة الامتحانات وتشخيص المستوى</a:t>
            </a:r>
          </a:p>
          <a:p>
            <a:pPr algn="r" rtl="1">
              <a:spcBef>
                <a:spcPts val="500"/>
              </a:spcBef>
              <a:defRPr sz="1150" b="0">
                <a:solidFill>
                  <a:srgbClr val="334155"/>
                </a:solidFill>
                <a:latin typeface="Times New Roman"/>
              </a:defRPr>
            </a:pPr>
            <a:r>
              <a:t>يتيح للطالب خوض تجربة امتحان سابق كامل بنظام المحاكاة، ويمنحه تقريراً فورياً بنقاط القوة والمواضيع التي تحتاج إلى تركيز ومراجعة.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38BDF8"/>
                </a:solidFill>
                <a:latin typeface="Times New Roman"/>
              </a:defRPr>
            </a:pPr>
            <a:r>
              <a:t>الذكاء الاصطناعي الأكاديمي</a:t>
            </a:r>
          </a:p>
          <a:p>
            <a:pPr algn="r" rtl="1">
              <a:spcBef>
                <a:spcPts val="300"/>
              </a:spcBef>
              <a:defRPr sz="2500" b="1">
                <a:solidFill>
                  <a:srgbClr val="F8FAFC"/>
                </a:solidFill>
                <a:latin typeface="Times New Roman"/>
              </a:defRPr>
            </a:pPr>
            <a:r>
              <a:t>المساعد الأكاديمي الذكي «كيدي» — مرتبط بمناهج الكلية الفعلية</a:t>
            </a:r>
          </a:p>
        </p:txBody>
      </p:sp>
      <p:sp>
        <p:nvSpPr>
          <p:cNvPr id="5" name="TextBox 4"/>
          <p:cNvSpPr txBox="1"/>
          <p:nvPr/>
        </p:nvSpPr>
        <p:spPr>
          <a:xfrm>
            <a:off x="685800" y="1417320"/>
            <a:ext cx="10820095" cy="685800"/>
          </a:xfrm>
          <a:prstGeom prst="rect">
            <a:avLst/>
          </a:prstGeom>
          <a:noFill/>
        </p:spPr>
        <p:txBody>
          <a:bodyPr wrap="none">
            <a:spAutoFit/>
          </a:bodyPr>
          <a:lstStyle/>
          <a:p>
            <a:pPr algn="r" rtl="1">
              <a:defRPr sz="1450" b="0">
                <a:solidFill>
                  <a:srgbClr val="38BDF8"/>
                </a:solidFill>
                <a:latin typeface="Times New Roman"/>
              </a:defRPr>
            </a:pPr>
            <a:r>
              <a:t>ليس مجرد روبوت محادثة عام: يقرأ كيدي ملفات ومحاضرات المواد الفعلية المرفوعة في النظام، ويجيب الطلاب بدقة من صلب المنهج الدراسي المعتمد للكلية.</a:t>
            </a:r>
          </a:p>
        </p:txBody>
      </p:sp>
      <p:sp>
        <p:nvSpPr>
          <p:cNvPr id="6" name="Rounded Rectangle 5"/>
          <p:cNvSpPr/>
          <p:nvPr/>
        </p:nvSpPr>
        <p:spPr>
          <a:xfrm>
            <a:off x="685800" y="2240280"/>
            <a:ext cx="5257800" cy="16002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88736" y="224028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86584"/>
            <a:ext cx="4800600" cy="1307592"/>
          </a:xfrm>
          <a:prstGeom prst="rect">
            <a:avLst/>
          </a:prstGeom>
          <a:noFill/>
        </p:spPr>
        <p:txBody>
          <a:bodyPr wrap="square" tIns="0" bIns="0" lIns="0" rIns="0">
            <a:spAutoFit/>
          </a:bodyPr>
          <a:lstStyle/>
          <a:p>
            <a:pPr algn="r" rtl="1">
              <a:defRPr sz="1100" b="1">
                <a:solidFill>
                  <a:srgbClr val="D97706"/>
                </a:solidFill>
                <a:latin typeface="Times New Roman"/>
              </a:defRPr>
            </a:pPr>
            <a:r>
              <a:t>خاصية التلخيص</a:t>
            </a:r>
          </a:p>
          <a:p>
            <a:pPr algn="r" rtl="1">
              <a:spcBef>
                <a:spcPts val="200"/>
              </a:spcBef>
              <a:defRPr sz="1550" b="1">
                <a:solidFill>
                  <a:srgbClr val="F8FAFC"/>
                </a:solidFill>
                <a:latin typeface="Times New Roman"/>
              </a:defRPr>
            </a:pPr>
            <a:r>
              <a:t>التلخيص والشرح التفاعلي</a:t>
            </a:r>
          </a:p>
          <a:p>
            <a:pPr algn="r" rtl="1">
              <a:spcBef>
                <a:spcPts val="500"/>
              </a:spcBef>
              <a:defRPr sz="1150" b="0">
                <a:solidFill>
                  <a:srgbClr val="38BDF8"/>
                </a:solidFill>
                <a:latin typeface="Times New Roman"/>
              </a:defRPr>
            </a:pPr>
            <a:r>
              <a:t>تلخيص المحاضرات الطويلة واستخراج النقاط المفتاحية وتبسيط المفاهيم المعقدة باللغة المناسبة للطالب.</a:t>
            </a:r>
          </a:p>
        </p:txBody>
      </p:sp>
      <p:sp>
        <p:nvSpPr>
          <p:cNvPr id="9" name="Rounded Rectangle 8"/>
          <p:cNvSpPr/>
          <p:nvPr/>
        </p:nvSpPr>
        <p:spPr>
          <a:xfrm>
            <a:off x="6217920" y="2240280"/>
            <a:ext cx="5257800" cy="16002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20856" y="224028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386584"/>
            <a:ext cx="4800600" cy="1307592"/>
          </a:xfrm>
          <a:prstGeom prst="rect">
            <a:avLst/>
          </a:prstGeom>
          <a:noFill/>
        </p:spPr>
        <p:txBody>
          <a:bodyPr wrap="square" tIns="0" bIns="0" lIns="0" rIns="0">
            <a:spAutoFit/>
          </a:bodyPr>
          <a:lstStyle/>
          <a:p>
            <a:pPr algn="r" rtl="1">
              <a:defRPr sz="1100" b="1">
                <a:solidFill>
                  <a:srgbClr val="D97706"/>
                </a:solidFill>
                <a:latin typeface="Times New Roman"/>
              </a:defRPr>
            </a:pPr>
            <a:r>
              <a:t>بطاقات المراجعة</a:t>
            </a:r>
          </a:p>
          <a:p>
            <a:pPr algn="r" rtl="1">
              <a:spcBef>
                <a:spcPts val="200"/>
              </a:spcBef>
              <a:defRPr sz="1550" b="1">
                <a:solidFill>
                  <a:srgbClr val="F8FAFC"/>
                </a:solidFill>
                <a:latin typeface="Times New Roman"/>
              </a:defRPr>
            </a:pPr>
            <a:r>
              <a:t>توليد بطاقات الاستذكار (Flashcards)</a:t>
            </a:r>
          </a:p>
          <a:p>
            <a:pPr algn="r" rtl="1">
              <a:spcBef>
                <a:spcPts val="500"/>
              </a:spcBef>
              <a:defRPr sz="1150" b="0">
                <a:solidFill>
                  <a:srgbClr val="38BDF8"/>
                </a:solidFill>
                <a:latin typeface="Times New Roman"/>
              </a:defRPr>
            </a:pPr>
            <a:r>
              <a:t>استخراج الأسئلة السريعة والإجابات من محتوى الشيتات وتحويلها إلى بطاقات مراجعة تفاعلية.</a:t>
            </a:r>
          </a:p>
        </p:txBody>
      </p:sp>
      <p:sp>
        <p:nvSpPr>
          <p:cNvPr id="12" name="Rounded Rectangle 11"/>
          <p:cNvSpPr/>
          <p:nvPr/>
        </p:nvSpPr>
        <p:spPr>
          <a:xfrm>
            <a:off x="685800" y="4023360"/>
            <a:ext cx="5257800" cy="16002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88736" y="402336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69664"/>
            <a:ext cx="4800600" cy="1307592"/>
          </a:xfrm>
          <a:prstGeom prst="rect">
            <a:avLst/>
          </a:prstGeom>
          <a:noFill/>
        </p:spPr>
        <p:txBody>
          <a:bodyPr wrap="square" tIns="0" bIns="0" lIns="0" rIns="0">
            <a:spAutoFit/>
          </a:bodyPr>
          <a:lstStyle/>
          <a:p>
            <a:pPr algn="r" rtl="1">
              <a:defRPr sz="1100" b="1">
                <a:solidFill>
                  <a:srgbClr val="D97706"/>
                </a:solidFill>
                <a:latin typeface="Times New Roman"/>
              </a:defRPr>
            </a:pPr>
            <a:r>
              <a:t>الاختبارات التجريبية</a:t>
            </a:r>
          </a:p>
          <a:p>
            <a:pPr algn="r" rtl="1">
              <a:spcBef>
                <a:spcPts val="200"/>
              </a:spcBef>
              <a:defRPr sz="1550" b="1">
                <a:solidFill>
                  <a:srgbClr val="F8FAFC"/>
                </a:solidFill>
                <a:latin typeface="Times New Roman"/>
              </a:defRPr>
            </a:pPr>
            <a:r>
              <a:t>بناء اختبارات تدريبية تجريبية</a:t>
            </a:r>
          </a:p>
          <a:p>
            <a:pPr algn="r" rtl="1">
              <a:spcBef>
                <a:spcPts val="500"/>
              </a:spcBef>
              <a:defRPr sz="1150" b="0">
                <a:solidFill>
                  <a:srgbClr val="38BDF8"/>
                </a:solidFill>
                <a:latin typeface="Times New Roman"/>
              </a:defRPr>
            </a:pPr>
            <a:r>
              <a:t>توليد أسئلة امتحانية متوقعة ومتنوعة الصعوبة بناءً على ما تم شرحه في المحاضرات للمراجعة الذاتية.</a:t>
            </a:r>
          </a:p>
        </p:txBody>
      </p:sp>
      <p:sp>
        <p:nvSpPr>
          <p:cNvPr id="15" name="Rounded Rectangle 14"/>
          <p:cNvSpPr/>
          <p:nvPr/>
        </p:nvSpPr>
        <p:spPr>
          <a:xfrm>
            <a:off x="6217920" y="4023360"/>
            <a:ext cx="5257800" cy="16002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20856" y="4023360"/>
            <a:ext cx="54864" cy="1600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169664"/>
            <a:ext cx="4800600" cy="1307592"/>
          </a:xfrm>
          <a:prstGeom prst="rect">
            <a:avLst/>
          </a:prstGeom>
          <a:noFill/>
        </p:spPr>
        <p:txBody>
          <a:bodyPr wrap="square" tIns="0" bIns="0" lIns="0" rIns="0">
            <a:spAutoFit/>
          </a:bodyPr>
          <a:lstStyle/>
          <a:p>
            <a:pPr algn="r" rtl="1">
              <a:defRPr sz="1100" b="1">
                <a:solidFill>
                  <a:srgbClr val="D97706"/>
                </a:solidFill>
                <a:latin typeface="Times New Roman"/>
              </a:defRPr>
            </a:pPr>
            <a:r>
              <a:t>تصحيح البرمجة</a:t>
            </a:r>
          </a:p>
          <a:p>
            <a:pPr algn="r" rtl="1">
              <a:spcBef>
                <a:spcPts val="200"/>
              </a:spcBef>
              <a:defRPr sz="1550" b="1">
                <a:solidFill>
                  <a:srgbClr val="F8FAFC"/>
                </a:solidFill>
                <a:latin typeface="Times New Roman"/>
              </a:defRPr>
            </a:pPr>
            <a:r>
              <a:t>مساعد تصحيح الأكواد البرمجية</a:t>
            </a:r>
          </a:p>
          <a:p>
            <a:pPr algn="r" rtl="1">
              <a:spcBef>
                <a:spcPts val="500"/>
              </a:spcBef>
              <a:defRPr sz="1150" b="0">
                <a:solidFill>
                  <a:srgbClr val="38BDF8"/>
                </a:solidFill>
                <a:latin typeface="Times New Roman"/>
              </a:defRPr>
            </a:pPr>
            <a:r>
              <a:t>شرح رسائل الخطأ البرمجية وتقديم توجيهات وحلول لطلاب تقنية المعلومات مع الحفاظ على الأمان الأكاديمي.</a:t>
            </a:r>
          </a:p>
        </p:txBody>
      </p:sp>
      <p:sp>
        <p:nvSpPr>
          <p:cNvPr id="18" name="TextBox 17"/>
          <p:cNvSpPr txBox="1"/>
          <p:nvPr/>
        </p:nvSpPr>
        <p:spPr>
          <a:xfrm>
            <a:off x="685800" y="6035040"/>
            <a:ext cx="10820095" cy="365760"/>
          </a:xfrm>
          <a:prstGeom prst="rect">
            <a:avLst/>
          </a:prstGeom>
          <a:noFill/>
        </p:spPr>
        <p:txBody>
          <a:bodyPr wrap="none">
            <a:spAutoFit/>
          </a:bodyPr>
          <a:lstStyle/>
          <a:p>
            <a:pPr algn="r" rtl="1">
              <a:defRPr sz="1250" b="0">
                <a:solidFill>
                  <a:srgbClr val="38BDF8"/>
                </a:solidFill>
                <a:latin typeface="Times New Roman"/>
              </a:defRPr>
            </a:pPr>
            <a:r>
              <a:t>موثوقية تشغيلية وتكلفة صفرية: يعمل النظام بالتناوب الذكي التلقائي بين 4 مزودين عالميين (Gemini · Qwen · Cohere · Groq).</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أدوات الطلاب</a:t>
            </a:r>
          </a:p>
          <a:p>
            <a:pPr algn="r" rtl="1">
              <a:spcBef>
                <a:spcPts val="300"/>
              </a:spcBef>
              <a:defRPr sz="2500" b="1">
                <a:solidFill>
                  <a:srgbClr val="0F172A"/>
                </a:solidFill>
                <a:latin typeface="Times New Roman"/>
              </a:defRPr>
            </a:pPr>
            <a:r>
              <a:t>بيئة تعليمية متكاملة تدعم الطالب داخل وخارج القاعة الدراسية</a:t>
            </a:r>
          </a:p>
        </p:txBody>
      </p:sp>
      <p:sp>
        <p:nvSpPr>
          <p:cNvPr id="5" name="Rounded Rectangle 4"/>
          <p:cNvSpPr/>
          <p:nvPr/>
        </p:nvSpPr>
        <p:spPr>
          <a:xfrm>
            <a:off x="685800" y="160020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05656" y="1600200"/>
            <a:ext cx="54864" cy="2057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3017520" cy="1764792"/>
          </a:xfrm>
          <a:prstGeom prst="rect">
            <a:avLst/>
          </a:prstGeom>
          <a:noFill/>
        </p:spPr>
        <p:txBody>
          <a:bodyPr wrap="square" tIns="0" bIns="0" lIns="0" rIns="0">
            <a:spAutoFit/>
          </a:bodyPr>
          <a:lstStyle/>
          <a:p>
            <a:pPr algn="r" rtl="1">
              <a:defRPr sz="1100" b="1">
                <a:solidFill>
                  <a:srgbClr val="1D4ED8"/>
                </a:solidFill>
                <a:latin typeface="Times New Roman"/>
              </a:defRPr>
            </a:pPr>
            <a:r>
              <a:t>مختبر برمجي سحابي</a:t>
            </a:r>
          </a:p>
          <a:p>
            <a:pPr algn="r" rtl="1">
              <a:spcBef>
                <a:spcPts val="200"/>
              </a:spcBef>
              <a:defRPr sz="1550" b="1">
                <a:solidFill>
                  <a:srgbClr val="0F172A"/>
                </a:solidFill>
                <a:latin typeface="Times New Roman"/>
              </a:defRPr>
            </a:pPr>
            <a:r>
              <a:t>مختبر البرمجة السحابي (Code Lab)</a:t>
            </a:r>
          </a:p>
          <a:p>
            <a:pPr algn="r" rtl="1">
              <a:spcBef>
                <a:spcPts val="500"/>
              </a:spcBef>
              <a:defRPr sz="1150" b="0">
                <a:solidFill>
                  <a:srgbClr val="334155"/>
                </a:solidFill>
                <a:latin typeface="Times New Roman"/>
              </a:defRPr>
            </a:pPr>
            <a:r>
              <a:t>بيئة لكتابة وتنفيذ أكواد C++ وتشغيلها مباشرة من المتصفح أو الهاتف دون الحاجة لتثبيت برامج إضافية.</a:t>
            </a:r>
          </a:p>
        </p:txBody>
      </p:sp>
      <p:sp>
        <p:nvSpPr>
          <p:cNvPr id="8" name="Rounded Rectangle 7"/>
          <p:cNvSpPr/>
          <p:nvPr/>
        </p:nvSpPr>
        <p:spPr>
          <a:xfrm>
            <a:off x="4343400" y="160020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1600200"/>
            <a:ext cx="54864" cy="2057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46504"/>
            <a:ext cx="3017520" cy="1764792"/>
          </a:xfrm>
          <a:prstGeom prst="rect">
            <a:avLst/>
          </a:prstGeom>
          <a:noFill/>
        </p:spPr>
        <p:txBody>
          <a:bodyPr wrap="square" tIns="0" bIns="0" lIns="0" rIns="0">
            <a:spAutoFit/>
          </a:bodyPr>
          <a:lstStyle/>
          <a:p>
            <a:pPr algn="r" rtl="1">
              <a:defRPr sz="1100" b="1">
                <a:solidFill>
                  <a:srgbClr val="7C3AED"/>
                </a:solidFill>
                <a:latin typeface="Times New Roman"/>
              </a:defRPr>
            </a:pPr>
            <a:r>
              <a:t>مذاكرة جماعية متزامنة</a:t>
            </a:r>
          </a:p>
          <a:p>
            <a:pPr algn="r" rtl="1">
              <a:spcBef>
                <a:spcPts val="200"/>
              </a:spcBef>
              <a:defRPr sz="1550" b="1">
                <a:solidFill>
                  <a:srgbClr val="0F172A"/>
                </a:solidFill>
                <a:latin typeface="Times New Roman"/>
              </a:defRPr>
            </a:pPr>
            <a:r>
              <a:t>غرف المذاكرة الجماعية (Study Pods)</a:t>
            </a:r>
          </a:p>
          <a:p>
            <a:pPr algn="r" rtl="1">
              <a:spcBef>
                <a:spcPts val="500"/>
              </a:spcBef>
              <a:defRPr sz="1150" b="0">
                <a:solidFill>
                  <a:srgbClr val="334155"/>
                </a:solidFill>
                <a:latin typeface="Times New Roman"/>
              </a:defRPr>
            </a:pPr>
            <a:r>
              <a:t>غرف افتراضية لكل دفعة تتضمن مؤقت بومودورو للمذاكرة متزامن لحظياً بين الطلاب وقائمة مهام مشتركة.</a:t>
            </a:r>
          </a:p>
        </p:txBody>
      </p:sp>
      <p:sp>
        <p:nvSpPr>
          <p:cNvPr id="11" name="Rounded Rectangle 10"/>
          <p:cNvSpPr/>
          <p:nvPr/>
        </p:nvSpPr>
        <p:spPr>
          <a:xfrm>
            <a:off x="8001000" y="160020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160020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46504"/>
            <a:ext cx="3017520" cy="1764792"/>
          </a:xfrm>
          <a:prstGeom prst="rect">
            <a:avLst/>
          </a:prstGeom>
          <a:noFill/>
        </p:spPr>
        <p:txBody>
          <a:bodyPr wrap="square" tIns="0" bIns="0" lIns="0" rIns="0">
            <a:spAutoFit/>
          </a:bodyPr>
          <a:lstStyle/>
          <a:p>
            <a:pPr algn="r" rtl="1">
              <a:defRPr sz="1100" b="1">
                <a:solidFill>
                  <a:srgbClr val="0F766E"/>
                </a:solidFill>
                <a:latin typeface="Times New Roman"/>
              </a:defRPr>
            </a:pPr>
            <a:r>
              <a:t>بطاقات استذكار رقمية</a:t>
            </a:r>
          </a:p>
          <a:p>
            <a:pPr algn="r" rtl="1">
              <a:spcBef>
                <a:spcPts val="200"/>
              </a:spcBef>
              <a:defRPr sz="1550" b="1">
                <a:solidFill>
                  <a:srgbClr val="0F172A"/>
                </a:solidFill>
                <a:latin typeface="Times New Roman"/>
              </a:defRPr>
            </a:pPr>
            <a:r>
              <a:t>بطاقات الاستذكار الرقمية</a:t>
            </a:r>
          </a:p>
          <a:p>
            <a:pPr algn="r" rtl="1">
              <a:spcBef>
                <a:spcPts val="500"/>
              </a:spcBef>
              <a:defRPr sz="1150" b="0">
                <a:solidFill>
                  <a:srgbClr val="334155"/>
                </a:solidFill>
                <a:latin typeface="Times New Roman"/>
              </a:defRPr>
            </a:pPr>
            <a:r>
              <a:t>أداة مراجعة سريعة للمصطلحات والمفاهيم تمكن الطالب من صناعة بطاقاته الخاصة أو توليدها آلياً.</a:t>
            </a:r>
          </a:p>
        </p:txBody>
      </p:sp>
      <p:sp>
        <p:nvSpPr>
          <p:cNvPr id="14" name="Rounded Rectangle 13"/>
          <p:cNvSpPr/>
          <p:nvPr/>
        </p:nvSpPr>
        <p:spPr>
          <a:xfrm>
            <a:off x="685800" y="38404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05656" y="3840480"/>
            <a:ext cx="54864" cy="2057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86784"/>
            <a:ext cx="3017520" cy="1764792"/>
          </a:xfrm>
          <a:prstGeom prst="rect">
            <a:avLst/>
          </a:prstGeom>
          <a:noFill/>
        </p:spPr>
        <p:txBody>
          <a:bodyPr wrap="square" tIns="0" bIns="0" lIns="0" rIns="0">
            <a:spAutoFit/>
          </a:bodyPr>
          <a:lstStyle/>
          <a:p>
            <a:pPr algn="r" rtl="1">
              <a:defRPr sz="1100" b="1">
                <a:solidFill>
                  <a:srgbClr val="D97706"/>
                </a:solidFill>
                <a:latin typeface="Times New Roman"/>
              </a:defRPr>
            </a:pPr>
            <a:r>
              <a:t>لوحة التنافس والتحفيز</a:t>
            </a:r>
          </a:p>
          <a:p>
            <a:pPr algn="r" rtl="1">
              <a:spcBef>
                <a:spcPts val="200"/>
              </a:spcBef>
              <a:defRPr sz="1550" b="1">
                <a:solidFill>
                  <a:srgbClr val="0F172A"/>
                </a:solidFill>
                <a:latin typeface="Times New Roman"/>
              </a:defRPr>
            </a:pPr>
            <a:r>
              <a:t>لوحة المتصدرين والتحفيز</a:t>
            </a:r>
          </a:p>
          <a:p>
            <a:pPr algn="r" rtl="1">
              <a:spcBef>
                <a:spcPts val="500"/>
              </a:spcBef>
              <a:defRPr sz="1150" b="0">
                <a:solidFill>
                  <a:srgbClr val="334155"/>
                </a:solidFill>
                <a:latin typeface="Times New Roman"/>
              </a:defRPr>
            </a:pPr>
            <a:r>
              <a:t>نظام نقاط ومكافآت على تسليم الواجبات والتفوق في الاختبارات لخلق بيئة تنافسية إيجابية ومحفزة.</a:t>
            </a:r>
          </a:p>
        </p:txBody>
      </p:sp>
      <p:sp>
        <p:nvSpPr>
          <p:cNvPr id="17" name="Rounded Rectangle 16"/>
          <p:cNvSpPr/>
          <p:nvPr/>
        </p:nvSpPr>
        <p:spPr>
          <a:xfrm>
            <a:off x="4343400" y="38404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3256" y="3840480"/>
            <a:ext cx="54864" cy="20574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986784"/>
            <a:ext cx="3017520" cy="1764792"/>
          </a:xfrm>
          <a:prstGeom prst="rect">
            <a:avLst/>
          </a:prstGeom>
          <a:noFill/>
        </p:spPr>
        <p:txBody>
          <a:bodyPr wrap="square" tIns="0" bIns="0" lIns="0" rIns="0">
            <a:spAutoFit/>
          </a:bodyPr>
          <a:lstStyle/>
          <a:p>
            <a:pPr algn="r" rtl="1">
              <a:defRPr sz="1100" b="1">
                <a:solidFill>
                  <a:srgbClr val="0A192F"/>
                </a:solidFill>
                <a:latin typeface="Times New Roman"/>
              </a:defRPr>
            </a:pPr>
            <a:r>
              <a:t>سجل أكاديمي موثق</a:t>
            </a:r>
          </a:p>
          <a:p>
            <a:pPr algn="r" rtl="1">
              <a:spcBef>
                <a:spcPts val="200"/>
              </a:spcBef>
              <a:defRPr sz="1550" b="1">
                <a:solidFill>
                  <a:srgbClr val="0F172A"/>
                </a:solidFill>
                <a:latin typeface="Times New Roman"/>
              </a:defRPr>
            </a:pPr>
            <a:r>
              <a:t>السجل الأكاديمي الرقمي الموثق</a:t>
            </a:r>
          </a:p>
          <a:p>
            <a:pPr algn="r" rtl="1">
              <a:spcBef>
                <a:spcPts val="500"/>
              </a:spcBef>
              <a:defRPr sz="1150" b="0">
                <a:solidFill>
                  <a:srgbClr val="334155"/>
                </a:solidFill>
                <a:latin typeface="Times New Roman"/>
              </a:defRPr>
            </a:pPr>
            <a:r>
              <a:t>سجل شامل بإنجازات الطالب ونسب الحضور والدرجات مع رمز تحقق وبصمة أمان إلكترونية.</a:t>
            </a:r>
          </a:p>
        </p:txBody>
      </p:sp>
      <p:sp>
        <p:nvSpPr>
          <p:cNvPr id="20" name="Rounded Rectangle 19"/>
          <p:cNvSpPr/>
          <p:nvPr/>
        </p:nvSpPr>
        <p:spPr>
          <a:xfrm>
            <a:off x="8001000" y="38404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20856" y="3840480"/>
            <a:ext cx="54864" cy="20574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986784"/>
            <a:ext cx="3017520" cy="1764792"/>
          </a:xfrm>
          <a:prstGeom prst="rect">
            <a:avLst/>
          </a:prstGeom>
          <a:noFill/>
        </p:spPr>
        <p:txBody>
          <a:bodyPr wrap="square" tIns="0" bIns="0" lIns="0" rIns="0">
            <a:spAutoFit/>
          </a:bodyPr>
          <a:lstStyle/>
          <a:p>
            <a:pPr algn="r" rtl="1">
              <a:defRPr sz="1100" b="1">
                <a:solidFill>
                  <a:srgbClr val="64748B"/>
                </a:solidFill>
                <a:latin typeface="Times New Roman"/>
              </a:defRPr>
            </a:pPr>
            <a:r>
              <a:t>استبيانات الجودة</a:t>
            </a:r>
          </a:p>
          <a:p>
            <a:pPr algn="r" rtl="1">
              <a:spcBef>
                <a:spcPts val="200"/>
              </a:spcBef>
              <a:defRPr sz="1550" b="1">
                <a:solidFill>
                  <a:srgbClr val="0F172A"/>
                </a:solidFill>
                <a:latin typeface="Times New Roman"/>
              </a:defRPr>
            </a:pPr>
            <a:r>
              <a:t>استبيانات جودة المقررات</a:t>
            </a:r>
          </a:p>
          <a:p>
            <a:pPr algn="r" rtl="1">
              <a:spcBef>
                <a:spcPts val="500"/>
              </a:spcBef>
              <a:defRPr sz="1150" b="0">
                <a:solidFill>
                  <a:srgbClr val="334155"/>
                </a:solidFill>
                <a:latin typeface="Times New Roman"/>
              </a:defRPr>
            </a:pPr>
            <a:r>
              <a:t>تقييم فصلي مجهول الهوية يقيس رضا الطلاب عن المقررات والأداء الأكاديمي لضمان الجودة.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الوحدة المالية</a:t>
            </a:r>
          </a:p>
          <a:p>
            <a:pPr algn="r" rtl="1">
              <a:spcBef>
                <a:spcPts val="300"/>
              </a:spcBef>
              <a:defRPr sz="2500" b="1">
                <a:solidFill>
                  <a:srgbClr val="0F172A"/>
                </a:solidFill>
                <a:latin typeface="Times New Roman"/>
              </a:defRPr>
            </a:pPr>
            <a:r>
              <a:t>إدارة الرسوم الدراسية وعمليات السداد بأعلى معايير الدقة</a:t>
            </a:r>
          </a:p>
        </p:txBody>
      </p:sp>
      <p:sp>
        <p:nvSpPr>
          <p:cNvPr id="5" name="Rounded Rectangle 4"/>
          <p:cNvSpPr/>
          <p:nvPr/>
        </p:nvSpPr>
        <p:spPr>
          <a:xfrm>
            <a:off x="685800" y="160020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05656" y="1600200"/>
            <a:ext cx="54864" cy="2194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3017520" cy="1901952"/>
          </a:xfrm>
          <a:prstGeom prst="rect">
            <a:avLst/>
          </a:prstGeom>
          <a:noFill/>
        </p:spPr>
        <p:txBody>
          <a:bodyPr wrap="square" tIns="0" bIns="0" lIns="0" rIns="0">
            <a:spAutoFit/>
          </a:bodyPr>
          <a:lstStyle/>
          <a:p>
            <a:pPr algn="r" rtl="1">
              <a:defRPr sz="1100" b="1">
                <a:solidFill>
                  <a:srgbClr val="0A192F"/>
                </a:solidFill>
                <a:latin typeface="Times New Roman"/>
              </a:defRPr>
            </a:pPr>
            <a:r>
              <a:t>تحديد الرسوم والمنح</a:t>
            </a:r>
          </a:p>
          <a:p>
            <a:pPr algn="r" rtl="1">
              <a:spcBef>
                <a:spcPts val="200"/>
              </a:spcBef>
              <a:defRPr sz="1550" b="1">
                <a:solidFill>
                  <a:srgbClr val="0F172A"/>
                </a:solidFill>
                <a:latin typeface="Times New Roman"/>
              </a:defRPr>
            </a:pPr>
            <a:r>
              <a:t>إسناد الرسوم والخصومات</a:t>
            </a:r>
          </a:p>
          <a:p>
            <a:pPr algn="r" rtl="1">
              <a:spcBef>
                <a:spcPts val="500"/>
              </a:spcBef>
              <a:defRPr sz="1150" b="0">
                <a:solidFill>
                  <a:srgbClr val="334155"/>
                </a:solidFill>
                <a:latin typeface="Times New Roman"/>
              </a:defRPr>
            </a:pPr>
            <a:r>
              <a:t>إمكانية إضافة الرسوم لطالب محدد أو للدفعة بالكامل، مع تحديد مواعيد الاستحقاق وتطبيق المنح والخصومات المعتمدة وإشعار الطالب فوراً.</a:t>
            </a:r>
          </a:p>
        </p:txBody>
      </p:sp>
      <p:sp>
        <p:nvSpPr>
          <p:cNvPr id="8" name="Rounded Rectangle 7"/>
          <p:cNvSpPr/>
          <p:nvPr/>
        </p:nvSpPr>
        <p:spPr>
          <a:xfrm>
            <a:off x="4343400" y="160020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1600200"/>
            <a:ext cx="54864" cy="21945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46504"/>
            <a:ext cx="3017520" cy="1901952"/>
          </a:xfrm>
          <a:prstGeom prst="rect">
            <a:avLst/>
          </a:prstGeom>
          <a:noFill/>
        </p:spPr>
        <p:txBody>
          <a:bodyPr wrap="square" tIns="0" bIns="0" lIns="0" rIns="0">
            <a:spAutoFit/>
          </a:bodyPr>
          <a:lstStyle/>
          <a:p>
            <a:pPr algn="r" rtl="1">
              <a:defRPr sz="1100" b="1">
                <a:solidFill>
                  <a:srgbClr val="0F766E"/>
                </a:solidFill>
                <a:latin typeface="Times New Roman"/>
              </a:defRPr>
            </a:pPr>
            <a:r>
              <a:t>تخصيص محاسبي آلي</a:t>
            </a:r>
          </a:p>
          <a:p>
            <a:pPr algn="r" rtl="1">
              <a:spcBef>
                <a:spcPts val="200"/>
              </a:spcBef>
              <a:defRPr sz="1550" b="1">
                <a:solidFill>
                  <a:srgbClr val="0F172A"/>
                </a:solidFill>
                <a:latin typeface="Times New Roman"/>
              </a:defRPr>
            </a:pPr>
            <a:r>
              <a:t>التخصيص التلقائي (FIFO)</a:t>
            </a:r>
          </a:p>
          <a:p>
            <a:pPr algn="r" rtl="1">
              <a:spcBef>
                <a:spcPts val="500"/>
              </a:spcBef>
              <a:defRPr sz="1150" b="0">
                <a:solidFill>
                  <a:srgbClr val="334155"/>
                </a:solidFill>
                <a:latin typeface="Times New Roman"/>
              </a:defRPr>
            </a:pPr>
            <a:r>
              <a:t>تخصيص أي دفعة تسديد تلقائياً لأقدم رسم مستحق داخل معاملة واحدة (Transaction) تضمن استحالة حدوث أي خطأ أو تضارب محاسبي.</a:t>
            </a:r>
          </a:p>
        </p:txBody>
      </p:sp>
      <p:sp>
        <p:nvSpPr>
          <p:cNvPr id="11" name="Rounded Rectangle 10"/>
          <p:cNvSpPr/>
          <p:nvPr/>
        </p:nvSpPr>
        <p:spPr>
          <a:xfrm>
            <a:off x="8001000" y="160020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1600200"/>
            <a:ext cx="54864"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46504"/>
            <a:ext cx="3017520" cy="1901952"/>
          </a:xfrm>
          <a:prstGeom prst="rect">
            <a:avLst/>
          </a:prstGeom>
          <a:noFill/>
        </p:spPr>
        <p:txBody>
          <a:bodyPr wrap="square" tIns="0" bIns="0" lIns="0" rIns="0">
            <a:spAutoFit/>
          </a:bodyPr>
          <a:lstStyle/>
          <a:p>
            <a:pPr algn="r" rtl="1">
              <a:defRPr sz="1100" b="1">
                <a:solidFill>
                  <a:srgbClr val="1D4ED8"/>
                </a:solidFill>
                <a:latin typeface="Times New Roman"/>
              </a:defRPr>
            </a:pPr>
            <a:r>
              <a:t>تدقيق ومراجعة الإيصالات</a:t>
            </a:r>
          </a:p>
          <a:p>
            <a:pPr algn="r" rtl="1">
              <a:spcBef>
                <a:spcPts val="200"/>
              </a:spcBef>
              <a:defRPr sz="1550" b="1">
                <a:solidFill>
                  <a:srgbClr val="0F172A"/>
                </a:solidFill>
                <a:latin typeface="Times New Roman"/>
              </a:defRPr>
            </a:pPr>
            <a:r>
              <a:t>رفع ومراجعة الإيصالات</a:t>
            </a:r>
          </a:p>
          <a:p>
            <a:pPr algn="r" rtl="1">
              <a:spcBef>
                <a:spcPts val="500"/>
              </a:spcBef>
              <a:defRPr sz="1150" b="0">
                <a:solidFill>
                  <a:srgbClr val="334155"/>
                </a:solidFill>
                <a:latin typeface="Times New Roman"/>
              </a:defRPr>
            </a:pPr>
            <a:r>
              <a:t>يرفع الطالب صورة إشعار التحويل البنكي عبر هاتفه، وتتولى الإدارة المالية فحص الطلب والموافقة عليه أو رفضه مع إبداء السبب.</a:t>
            </a:r>
          </a:p>
        </p:txBody>
      </p:sp>
      <p:sp>
        <p:nvSpPr>
          <p:cNvPr id="14" name="Rounded Rectangle 13"/>
          <p:cNvSpPr/>
          <p:nvPr/>
        </p:nvSpPr>
        <p:spPr>
          <a:xfrm>
            <a:off x="685800" y="4069080"/>
            <a:ext cx="107899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4069080"/>
            <a:ext cx="54864" cy="2148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15384"/>
            <a:ext cx="10332720" cy="1856232"/>
          </a:xfrm>
          <a:prstGeom prst="rect">
            <a:avLst/>
          </a:prstGeom>
          <a:noFill/>
        </p:spPr>
        <p:txBody>
          <a:bodyPr wrap="square" tIns="0" bIns="0" lIns="0" rIns="0">
            <a:spAutoFit/>
          </a:bodyPr>
          <a:lstStyle/>
          <a:p>
            <a:pPr algn="r" rtl="1">
              <a:defRPr sz="1100" b="1">
                <a:solidFill>
                  <a:srgbClr val="D97706"/>
                </a:solidFill>
                <a:latin typeface="Times New Roman"/>
              </a:defRPr>
            </a:pPr>
            <a:r>
              <a:t>التقارير المالية المركزية</a:t>
            </a:r>
          </a:p>
          <a:p>
            <a:pPr algn="r" rtl="1">
              <a:spcBef>
                <a:spcPts val="200"/>
              </a:spcBef>
              <a:defRPr sz="1550" b="1">
                <a:solidFill>
                  <a:srgbClr val="0F172A"/>
                </a:solidFill>
                <a:latin typeface="Times New Roman"/>
              </a:defRPr>
            </a:pPr>
            <a:r>
              <a:t>لوحة متابعة الأرصدة والتقارير المالية المركزية</a:t>
            </a:r>
          </a:p>
          <a:p>
            <a:pPr algn="r" rtl="1">
              <a:spcBef>
                <a:spcPts val="500"/>
              </a:spcBef>
              <a:defRPr sz="1150" b="0">
                <a:solidFill>
                  <a:srgbClr val="334155"/>
                </a:solidFill>
                <a:latin typeface="Times New Roman"/>
              </a:defRPr>
            </a:pPr>
            <a:r>
              <a:t>عرض شامل لإجمالي الرسوم، المبالغ المسددة، والمتبقي لكل طالب، مع تقرير تفصيلي بالمتأخرات وإمكانية إرسال تذكيرات آلية للطلاب المتأخرين عن السداد. جميع الأرقام مترابطة من قاعدة بيانات واحدة.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التواصل والتنبيهات</a:t>
            </a:r>
          </a:p>
          <a:p>
            <a:pPr algn="r" rtl="1">
              <a:spcBef>
                <a:spcPts val="300"/>
              </a:spcBef>
              <a:defRPr sz="2500" b="1">
                <a:solidFill>
                  <a:srgbClr val="0F172A"/>
                </a:solidFill>
                <a:latin typeface="Times New Roman"/>
              </a:defRPr>
            </a:pPr>
            <a:r>
              <a:t>شبكة تواصل فورية وتنبيهات مخصصة تربط الكلية بطلابها</a:t>
            </a:r>
          </a:p>
        </p:txBody>
      </p:sp>
      <p:sp>
        <p:nvSpPr>
          <p:cNvPr id="5" name="Rounded Rectangle 4"/>
          <p:cNvSpPr/>
          <p:nvPr/>
        </p:nvSpPr>
        <p:spPr>
          <a:xfrm>
            <a:off x="685800" y="1600200"/>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20856" y="1600200"/>
            <a:ext cx="54864"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10332720" cy="576071"/>
          </a:xfrm>
          <a:prstGeom prst="rect">
            <a:avLst/>
          </a:prstGeom>
          <a:noFill/>
        </p:spPr>
        <p:txBody>
          <a:bodyPr wrap="square" tIns="0" bIns="0" lIns="0" rIns="0">
            <a:spAutoFit/>
          </a:bodyPr>
          <a:lstStyle/>
          <a:p>
            <a:pPr algn="r" rtl="1">
              <a:defRPr sz="1100" b="1">
                <a:solidFill>
                  <a:srgbClr val="1D4ED8"/>
                </a:solidFill>
                <a:latin typeface="Times New Roman"/>
              </a:defRPr>
            </a:pPr>
            <a:r>
              <a:t>إشعار نظام فوري</a:t>
            </a:r>
          </a:p>
          <a:p>
            <a:pPr algn="r" rtl="1">
              <a:spcBef>
                <a:spcPts val="200"/>
              </a:spcBef>
              <a:defRPr sz="1550" b="1">
                <a:solidFill>
                  <a:srgbClr val="0F172A"/>
                </a:solidFill>
                <a:latin typeface="Times New Roman"/>
              </a:defRPr>
            </a:pPr>
            <a:r>
              <a:t>إشعارات Push فورية على الهواتف</a:t>
            </a:r>
          </a:p>
          <a:p>
            <a:pPr algn="r" rtl="1">
              <a:spcBef>
                <a:spcPts val="500"/>
              </a:spcBef>
              <a:defRPr sz="1150" b="0">
                <a:solidFill>
                  <a:srgbClr val="334155"/>
                </a:solidFill>
                <a:latin typeface="Times New Roman"/>
              </a:defRPr>
            </a:pPr>
            <a:r>
              <a:t>تصل مباشرة إلى شاشة هاتف المستخدم كإشعار نظام حقيقي — عند رصد درجة، تنبيه غياب، أو إعلان عاجل.</a:t>
            </a:r>
          </a:p>
        </p:txBody>
      </p:sp>
      <p:sp>
        <p:nvSpPr>
          <p:cNvPr id="8" name="Rounded Rectangle 7"/>
          <p:cNvSpPr/>
          <p:nvPr/>
        </p:nvSpPr>
        <p:spPr>
          <a:xfrm>
            <a:off x="685800" y="2560320"/>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2560320"/>
            <a:ext cx="54864" cy="868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06624"/>
            <a:ext cx="10332720" cy="576071"/>
          </a:xfrm>
          <a:prstGeom prst="rect">
            <a:avLst/>
          </a:prstGeom>
          <a:noFill/>
        </p:spPr>
        <p:txBody>
          <a:bodyPr wrap="square" tIns="0" bIns="0" lIns="0" rIns="0">
            <a:spAutoFit/>
          </a:bodyPr>
          <a:lstStyle/>
          <a:p>
            <a:pPr algn="r" rtl="1">
              <a:defRPr sz="1100" b="1">
                <a:solidFill>
                  <a:srgbClr val="0F766E"/>
                </a:solidFill>
                <a:latin typeface="Times New Roman"/>
              </a:defRPr>
            </a:pPr>
            <a:r>
              <a:t>توجيه دقيق للإعلانات</a:t>
            </a:r>
          </a:p>
          <a:p>
            <a:pPr algn="r" rtl="1">
              <a:spcBef>
                <a:spcPts val="200"/>
              </a:spcBef>
              <a:defRPr sz="1550" b="1">
                <a:solidFill>
                  <a:srgbClr val="0F172A"/>
                </a:solidFill>
                <a:latin typeface="Times New Roman"/>
              </a:defRPr>
            </a:pPr>
            <a:r>
              <a:t>توجيه ذكي ومستهدف للإعلانات</a:t>
            </a:r>
          </a:p>
          <a:p>
            <a:pPr algn="r" rtl="1">
              <a:spcBef>
                <a:spcPts val="500"/>
              </a:spcBef>
              <a:defRPr sz="1150" b="0">
                <a:solidFill>
                  <a:srgbClr val="334155"/>
                </a:solidFill>
                <a:latin typeface="Times New Roman"/>
              </a:defRPr>
            </a:pPr>
            <a:r>
              <a:t>إمكانية إرسال الإشعار لدفعة محددة، أو تخصص معين، أو طالب بعينه دون إزعاج باقي المستخدمين.</a:t>
            </a:r>
          </a:p>
        </p:txBody>
      </p:sp>
      <p:sp>
        <p:nvSpPr>
          <p:cNvPr id="11" name="Rounded Rectangle 10"/>
          <p:cNvSpPr/>
          <p:nvPr/>
        </p:nvSpPr>
        <p:spPr>
          <a:xfrm>
            <a:off x="685800" y="3520440"/>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3520440"/>
            <a:ext cx="54864"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66744"/>
            <a:ext cx="10332720" cy="576071"/>
          </a:xfrm>
          <a:prstGeom prst="rect">
            <a:avLst/>
          </a:prstGeom>
          <a:noFill/>
        </p:spPr>
        <p:txBody>
          <a:bodyPr wrap="square" tIns="0" bIns="0" lIns="0" rIns="0">
            <a:spAutoFit/>
          </a:bodyPr>
          <a:lstStyle/>
          <a:p>
            <a:pPr algn="r" rtl="1">
              <a:defRPr sz="1100" b="1">
                <a:solidFill>
                  <a:srgbClr val="D97706"/>
                </a:solidFill>
                <a:latin typeface="Times New Roman"/>
              </a:defRPr>
            </a:pPr>
            <a:r>
              <a:t>تقويم أكاديمي مركزي</a:t>
            </a:r>
          </a:p>
          <a:p>
            <a:pPr algn="r" rtl="1">
              <a:spcBef>
                <a:spcPts val="200"/>
              </a:spcBef>
              <a:defRPr sz="1550" b="1">
                <a:solidFill>
                  <a:srgbClr val="0F172A"/>
                </a:solidFill>
                <a:latin typeface="Times New Roman"/>
              </a:defRPr>
            </a:pPr>
            <a:r>
              <a:t>التقويم الأكاديمي الشامل</a:t>
            </a:r>
          </a:p>
          <a:p>
            <a:pPr algn="r" rtl="1">
              <a:spcBef>
                <a:spcPts val="500"/>
              </a:spcBef>
              <a:defRPr sz="1150" b="0">
                <a:solidFill>
                  <a:srgbClr val="334155"/>
                </a:solidFill>
                <a:latin typeface="Times New Roman"/>
              </a:defRPr>
            </a:pPr>
            <a:r>
              <a:t>تقويم موحد يعرض مواعيد الامتحانات، تسليم التكليفات، الفعاليات والعطلات الرسمية للكلية.</a:t>
            </a:r>
          </a:p>
        </p:txBody>
      </p:sp>
      <p:sp>
        <p:nvSpPr>
          <p:cNvPr id="14" name="Rounded Rectangle 13"/>
          <p:cNvSpPr/>
          <p:nvPr/>
        </p:nvSpPr>
        <p:spPr>
          <a:xfrm>
            <a:off x="685800" y="4480560"/>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4480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26864"/>
            <a:ext cx="10332720" cy="576071"/>
          </a:xfrm>
          <a:prstGeom prst="rect">
            <a:avLst/>
          </a:prstGeom>
          <a:noFill/>
        </p:spPr>
        <p:txBody>
          <a:bodyPr wrap="square" tIns="0" bIns="0" lIns="0" rIns="0">
            <a:spAutoFit/>
          </a:bodyPr>
          <a:lstStyle/>
          <a:p>
            <a:pPr algn="r" rtl="1">
              <a:defRPr sz="1100" b="1">
                <a:solidFill>
                  <a:srgbClr val="7C3AED"/>
                </a:solidFill>
                <a:latin typeface="Times New Roman"/>
              </a:defRPr>
            </a:pPr>
            <a:r>
              <a:t>استفسار الفيديو الموقوت</a:t>
            </a:r>
          </a:p>
          <a:p>
            <a:pPr algn="r" rtl="1">
              <a:spcBef>
                <a:spcPts val="200"/>
              </a:spcBef>
              <a:defRPr sz="1550" b="1">
                <a:solidFill>
                  <a:srgbClr val="0F172A"/>
                </a:solidFill>
                <a:latin typeface="Times New Roman"/>
              </a:defRPr>
            </a:pPr>
            <a:r>
              <a:t>طرح الأسئلة المباشرة على الفيديو</a:t>
            </a:r>
          </a:p>
          <a:p>
            <a:pPr algn="r" rtl="1">
              <a:spcBef>
                <a:spcPts val="500"/>
              </a:spcBef>
              <a:defRPr sz="1150" b="0">
                <a:solidFill>
                  <a:srgbClr val="334155"/>
                </a:solidFill>
                <a:latin typeface="Times New Roman"/>
              </a:defRPr>
            </a:pPr>
            <a:r>
              <a:t>يتيح للطالب كتابة استفساره عند دقيقة محددة من المحاضرة المسجلة ليجيب عليه الأستاذ في سياق الشرح.</a:t>
            </a:r>
          </a:p>
        </p:txBody>
      </p:sp>
      <p:sp>
        <p:nvSpPr>
          <p:cNvPr id="17" name="Rounded Rectangle 16"/>
          <p:cNvSpPr/>
          <p:nvPr/>
        </p:nvSpPr>
        <p:spPr>
          <a:xfrm>
            <a:off x="685800" y="5669280"/>
            <a:ext cx="10789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5669280"/>
            <a:ext cx="54864"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15584"/>
            <a:ext cx="10332720" cy="393192"/>
          </a:xfrm>
          <a:prstGeom prst="rect">
            <a:avLst/>
          </a:prstGeom>
          <a:noFill/>
        </p:spPr>
        <p:txBody>
          <a:bodyPr wrap="square" tIns="0" bIns="0" lIns="0" rIns="0">
            <a:spAutoFit/>
          </a:bodyPr>
          <a:lstStyle/>
          <a:p>
            <a:pPr algn="r" rtl="1">
              <a:defRPr sz="1100" b="1">
                <a:solidFill>
                  <a:srgbClr val="DC2626"/>
                </a:solidFill>
                <a:latin typeface="Times New Roman"/>
              </a:defRPr>
            </a:pPr>
            <a:r>
              <a:t>حوكمة وحماية المجتمع</a:t>
            </a:r>
          </a:p>
          <a:p>
            <a:pPr algn="r" rtl="1">
              <a:spcBef>
                <a:spcPts val="200"/>
              </a:spcBef>
              <a:defRPr sz="1550" b="1">
                <a:solidFill>
                  <a:srgbClr val="0F172A"/>
                </a:solidFill>
                <a:latin typeface="Times New Roman"/>
              </a:defRPr>
            </a:pPr>
            <a:r>
              <a:t>نظام متكامل للإبلاغ عن المحتوى المسيء وحظر المخالفين مع التزام المراجعة خلال 24 ساعة (متطلب رسمي للمتاجر)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الأمان والحوكمة</a:t>
            </a:r>
          </a:p>
          <a:p>
            <a:pPr algn="r" rtl="1">
              <a:spcBef>
                <a:spcPts val="300"/>
              </a:spcBef>
              <a:defRPr sz="2500" b="1">
                <a:solidFill>
                  <a:srgbClr val="0F172A"/>
                </a:solidFill>
                <a:latin typeface="Times New Roman"/>
              </a:defRPr>
            </a:pPr>
            <a:r>
              <a:t>أعلى معايير الحماية والتشفير والامتثال لمعايير الخصوصية</a:t>
            </a:r>
          </a:p>
        </p:txBody>
      </p:sp>
      <p:sp>
        <p:nvSpPr>
          <p:cNvPr id="5" name="Rounded Rectangle 4"/>
          <p:cNvSpPr/>
          <p:nvPr/>
        </p:nvSpPr>
        <p:spPr>
          <a:xfrm>
            <a:off x="685800" y="160020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05656" y="1600200"/>
            <a:ext cx="54864" cy="20574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3017520" cy="1764792"/>
          </a:xfrm>
          <a:prstGeom prst="rect">
            <a:avLst/>
          </a:prstGeom>
          <a:noFill/>
        </p:spPr>
        <p:txBody>
          <a:bodyPr wrap="square" tIns="0" bIns="0" lIns="0" rIns="0">
            <a:spAutoFit/>
          </a:bodyPr>
          <a:lstStyle/>
          <a:p>
            <a:pPr algn="r" rtl="1">
              <a:defRPr sz="1100" b="1">
                <a:solidFill>
                  <a:srgbClr val="0A192F"/>
                </a:solidFill>
                <a:latin typeface="Times New Roman"/>
              </a:defRPr>
            </a:pPr>
            <a:r>
              <a:t>تشفير bcrypt قوي</a:t>
            </a:r>
          </a:p>
          <a:p>
            <a:pPr algn="r" rtl="1">
              <a:spcBef>
                <a:spcPts val="200"/>
              </a:spcBef>
              <a:defRPr sz="1550" b="1">
                <a:solidFill>
                  <a:srgbClr val="0F172A"/>
                </a:solidFill>
                <a:latin typeface="Times New Roman"/>
              </a:defRPr>
            </a:pPr>
            <a:r>
              <a:t>تشفير كلمات المرور المتقدم</a:t>
            </a:r>
          </a:p>
          <a:p>
            <a:pPr algn="r" rtl="1">
              <a:spcBef>
                <a:spcPts val="500"/>
              </a:spcBef>
              <a:defRPr sz="1150" b="0">
                <a:solidFill>
                  <a:srgbClr val="334155"/>
                </a:solidFill>
                <a:latin typeface="Times New Roman"/>
              </a:defRPr>
            </a:pPr>
            <a:r>
              <a:t>تشفير كامل غير قابل للعكس باستخدام bcrypt مع فرض تغيير كلمة المرور الافتراضية عند أول تسجيل دخول.</a:t>
            </a:r>
          </a:p>
        </p:txBody>
      </p:sp>
      <p:sp>
        <p:nvSpPr>
          <p:cNvPr id="8" name="Rounded Rectangle 7"/>
          <p:cNvSpPr/>
          <p:nvPr/>
        </p:nvSpPr>
        <p:spPr>
          <a:xfrm>
            <a:off x="4343400" y="160020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1600200"/>
            <a:ext cx="54864" cy="2057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46504"/>
            <a:ext cx="3017520" cy="1764792"/>
          </a:xfrm>
          <a:prstGeom prst="rect">
            <a:avLst/>
          </a:prstGeom>
          <a:noFill/>
        </p:spPr>
        <p:txBody>
          <a:bodyPr wrap="square" tIns="0" bIns="0" lIns="0" rIns="0">
            <a:spAutoFit/>
          </a:bodyPr>
          <a:lstStyle/>
          <a:p>
            <a:pPr algn="r" rtl="1">
              <a:defRPr sz="1100" b="1">
                <a:solidFill>
                  <a:srgbClr val="1D4ED8"/>
                </a:solidFill>
                <a:latin typeface="Times New Roman"/>
              </a:defRPr>
            </a:pPr>
            <a:r>
              <a:t>مصادقة بيومترية</a:t>
            </a:r>
          </a:p>
          <a:p>
            <a:pPr algn="r" rtl="1">
              <a:spcBef>
                <a:spcPts val="200"/>
              </a:spcBef>
              <a:defRPr sz="1550" b="1">
                <a:solidFill>
                  <a:srgbClr val="0F172A"/>
                </a:solidFill>
                <a:latin typeface="Times New Roman"/>
              </a:defRPr>
            </a:pPr>
            <a:r>
              <a:t>الدخول الحيوي بالبصمة والوجه</a:t>
            </a:r>
          </a:p>
          <a:p>
            <a:pPr algn="r" rtl="1">
              <a:spcBef>
                <a:spcPts val="500"/>
              </a:spcBef>
              <a:defRPr sz="1150" b="0">
                <a:solidFill>
                  <a:srgbClr val="334155"/>
                </a:solidFill>
                <a:latin typeface="Times New Roman"/>
              </a:defRPr>
            </a:pPr>
            <a:r>
              <a:t>دعم مصادقة Passkeys والبصمة عبر أجهزة الهواتف لتسهيل الوصول الآمن دون كتابة كلمة المرور.</a:t>
            </a:r>
          </a:p>
        </p:txBody>
      </p:sp>
      <p:sp>
        <p:nvSpPr>
          <p:cNvPr id="11" name="Rounded Rectangle 10"/>
          <p:cNvSpPr/>
          <p:nvPr/>
        </p:nvSpPr>
        <p:spPr>
          <a:xfrm>
            <a:off x="8001000" y="160020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20856" y="1600200"/>
            <a:ext cx="54864" cy="2057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46504"/>
            <a:ext cx="3017520" cy="1764792"/>
          </a:xfrm>
          <a:prstGeom prst="rect">
            <a:avLst/>
          </a:prstGeom>
          <a:noFill/>
        </p:spPr>
        <p:txBody>
          <a:bodyPr wrap="square" tIns="0" bIns="0" lIns="0" rIns="0">
            <a:spAutoFit/>
          </a:bodyPr>
          <a:lstStyle/>
          <a:p>
            <a:pPr algn="r" rtl="1">
              <a:defRPr sz="1100" b="1">
                <a:solidFill>
                  <a:srgbClr val="7C3AED"/>
                </a:solidFill>
                <a:latin typeface="Times New Roman"/>
              </a:defRPr>
            </a:pPr>
            <a:r>
              <a:t>جلسة نشطة موحدة</a:t>
            </a:r>
          </a:p>
          <a:p>
            <a:pPr algn="r" rtl="1">
              <a:spcBef>
                <a:spcPts val="200"/>
              </a:spcBef>
              <a:defRPr sz="1550" b="1">
                <a:solidFill>
                  <a:srgbClr val="0F172A"/>
                </a:solidFill>
                <a:latin typeface="Times New Roman"/>
              </a:defRPr>
            </a:pPr>
            <a:r>
              <a:t>إدارة الجلسات ومنع الازدواج</a:t>
            </a:r>
          </a:p>
          <a:p>
            <a:pPr algn="r" rtl="1">
              <a:spcBef>
                <a:spcPts val="500"/>
              </a:spcBef>
              <a:defRPr sz="1150" b="0">
                <a:solidFill>
                  <a:srgbClr val="334155"/>
                </a:solidFill>
                <a:latin typeface="Times New Roman"/>
              </a:defRPr>
            </a:pPr>
            <a:r>
              <a:t>حصر الحساب في جلسة دخول نشطة واحدة، حيث يؤدي تسجيل الدخول من جهاز جديد لإنهاء الجلسة السابقة.</a:t>
            </a:r>
          </a:p>
        </p:txBody>
      </p:sp>
      <p:sp>
        <p:nvSpPr>
          <p:cNvPr id="14" name="Rounded Rectangle 13"/>
          <p:cNvSpPr/>
          <p:nvPr/>
        </p:nvSpPr>
        <p:spPr>
          <a:xfrm>
            <a:off x="685800" y="38404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05656" y="3840480"/>
            <a:ext cx="54864" cy="2057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86784"/>
            <a:ext cx="3017520" cy="1764792"/>
          </a:xfrm>
          <a:prstGeom prst="rect">
            <a:avLst/>
          </a:prstGeom>
          <a:noFill/>
        </p:spPr>
        <p:txBody>
          <a:bodyPr wrap="square" tIns="0" bIns="0" lIns="0" rIns="0">
            <a:spAutoFit/>
          </a:bodyPr>
          <a:lstStyle/>
          <a:p>
            <a:pPr algn="r" rtl="1">
              <a:defRPr sz="1100" b="1">
                <a:solidFill>
                  <a:srgbClr val="0F766E"/>
                </a:solidFill>
                <a:latin typeface="Times New Roman"/>
              </a:defRPr>
            </a:pPr>
            <a:r>
              <a:t>عزل برمجي محكم</a:t>
            </a:r>
          </a:p>
          <a:p>
            <a:pPr algn="r" rtl="1">
              <a:spcBef>
                <a:spcPts val="200"/>
              </a:spcBef>
              <a:defRPr sz="1550" b="1">
                <a:solidFill>
                  <a:srgbClr val="0F172A"/>
                </a:solidFill>
                <a:latin typeface="Times New Roman"/>
              </a:defRPr>
            </a:pPr>
            <a:r>
              <a:t>عزل البيانات على مستوى الخادم</a:t>
            </a:r>
          </a:p>
          <a:p>
            <a:pPr algn="r" rtl="1">
              <a:spcBef>
                <a:spcPts val="500"/>
              </a:spcBef>
              <a:defRPr sz="1150" b="0">
                <a:solidFill>
                  <a:srgbClr val="334155"/>
                </a:solidFill>
                <a:latin typeface="Times New Roman"/>
              </a:defRPr>
            </a:pPr>
            <a:r>
              <a:t>ضمان برمجي يمنع أي مستخدم من الوصول لبيانات أو تقارير دفعة أخرى حتى في حال محاولة التلاعب بالروابط.</a:t>
            </a:r>
          </a:p>
        </p:txBody>
      </p:sp>
      <p:sp>
        <p:nvSpPr>
          <p:cNvPr id="17" name="Rounded Rectangle 16"/>
          <p:cNvSpPr/>
          <p:nvPr/>
        </p:nvSpPr>
        <p:spPr>
          <a:xfrm>
            <a:off x="4343400" y="38404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3256" y="3840480"/>
            <a:ext cx="54864" cy="2057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986784"/>
            <a:ext cx="3017520" cy="1764792"/>
          </a:xfrm>
          <a:prstGeom prst="rect">
            <a:avLst/>
          </a:prstGeom>
          <a:noFill/>
        </p:spPr>
        <p:txBody>
          <a:bodyPr wrap="square" tIns="0" bIns="0" lIns="0" rIns="0">
            <a:spAutoFit/>
          </a:bodyPr>
          <a:lstStyle/>
          <a:p>
            <a:pPr algn="r" rtl="1">
              <a:defRPr sz="1100" b="1">
                <a:solidFill>
                  <a:srgbClr val="D97706"/>
                </a:solidFill>
                <a:latin typeface="Times New Roman"/>
              </a:defRPr>
            </a:pPr>
            <a:r>
              <a:t>حماية الملفات الحساسة</a:t>
            </a:r>
          </a:p>
          <a:p>
            <a:pPr algn="r" rtl="1">
              <a:spcBef>
                <a:spcPts val="200"/>
              </a:spcBef>
              <a:defRPr sz="1550" b="1">
                <a:solidFill>
                  <a:srgbClr val="0F172A"/>
                </a:solidFill>
                <a:latin typeface="Times New Roman"/>
              </a:defRPr>
            </a:pPr>
            <a:r>
              <a:t>حماية الملفات والمستندات الحساسة</a:t>
            </a:r>
          </a:p>
          <a:p>
            <a:pPr algn="r" rtl="1">
              <a:spcBef>
                <a:spcPts val="500"/>
              </a:spcBef>
              <a:defRPr sz="1150" b="0">
                <a:solidFill>
                  <a:srgbClr val="334155"/>
                </a:solidFill>
                <a:latin typeface="Times New Roman"/>
              </a:defRPr>
            </a:pPr>
            <a:r>
              <a:t>ملفات تسليم الواجبات وإيصالات السداد المالية مشفرة ومحمية ولا تفتح إلا للمصرح لهم فقط.</a:t>
            </a:r>
          </a:p>
        </p:txBody>
      </p:sp>
      <p:sp>
        <p:nvSpPr>
          <p:cNvPr id="20" name="Rounded Rectangle 19"/>
          <p:cNvSpPr/>
          <p:nvPr/>
        </p:nvSpPr>
        <p:spPr>
          <a:xfrm>
            <a:off x="8001000" y="38404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20856" y="3840480"/>
            <a:ext cx="54864" cy="2057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986784"/>
            <a:ext cx="3017520" cy="1764792"/>
          </a:xfrm>
          <a:prstGeom prst="rect">
            <a:avLst/>
          </a:prstGeom>
          <a:noFill/>
        </p:spPr>
        <p:txBody>
          <a:bodyPr wrap="square" tIns="0" bIns="0" lIns="0" rIns="0">
            <a:spAutoFit/>
          </a:bodyPr>
          <a:lstStyle/>
          <a:p>
            <a:pPr algn="r" rtl="1">
              <a:defRPr sz="1100" b="1">
                <a:solidFill>
                  <a:srgbClr val="DC2626"/>
                </a:solidFill>
                <a:latin typeface="Times New Roman"/>
              </a:defRPr>
            </a:pPr>
            <a:r>
              <a:t>الامتثال للخصوصية</a:t>
            </a:r>
          </a:p>
          <a:p>
            <a:pPr algn="r" rtl="1">
              <a:spcBef>
                <a:spcPts val="200"/>
              </a:spcBef>
              <a:defRPr sz="1550" b="1">
                <a:solidFill>
                  <a:srgbClr val="0F172A"/>
                </a:solidFill>
                <a:latin typeface="Times New Roman"/>
              </a:defRPr>
            </a:pPr>
            <a:r>
              <a:t>حذف الحساب والبيانات الذاتي</a:t>
            </a:r>
          </a:p>
          <a:p>
            <a:pPr algn="r" rtl="1">
              <a:spcBef>
                <a:spcPts val="500"/>
              </a:spcBef>
              <a:defRPr sz="1150" b="0">
                <a:solidFill>
                  <a:srgbClr val="334155"/>
                </a:solidFill>
                <a:latin typeface="Times New Roman"/>
              </a:defRPr>
            </a:pPr>
            <a:r>
              <a:t>إتاحة خيار حذف الحساب والبيانات الشخصية للطالب من داخل التطبيق وفق اشتراطات الخصوصية الدولية.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1D4ED8"/>
                </a:solidFill>
                <a:latin typeface="Times New Roman"/>
              </a:defRPr>
            </a:pPr>
            <a:r>
              <a:t>تطبيقات الهواتف</a:t>
            </a:r>
          </a:p>
          <a:p>
            <a:pPr algn="r" rtl="1">
              <a:spcBef>
                <a:spcPts val="300"/>
              </a:spcBef>
              <a:defRPr sz="2500" b="1">
                <a:solidFill>
                  <a:srgbClr val="0F172A"/>
                </a:solidFill>
                <a:latin typeface="Times New Roman"/>
              </a:defRPr>
            </a:pPr>
            <a:r>
              <a:t>تطبيقات أصلية للأندرويد والآيفون مع دعم العمل دون إنترنت</a:t>
            </a:r>
          </a:p>
        </p:txBody>
      </p:sp>
      <p:sp>
        <p:nvSpPr>
          <p:cNvPr id="5" name="Rounded Rectangle 4"/>
          <p:cNvSpPr/>
          <p:nvPr/>
        </p:nvSpPr>
        <p:spPr>
          <a:xfrm>
            <a:off x="685800" y="1600200"/>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600200"/>
            <a:ext cx="54864" cy="21945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4800600" cy="1901952"/>
          </a:xfrm>
          <a:prstGeom prst="rect">
            <a:avLst/>
          </a:prstGeom>
          <a:noFill/>
        </p:spPr>
        <p:txBody>
          <a:bodyPr wrap="square" tIns="0" bIns="0" lIns="0" rIns="0">
            <a:spAutoFit/>
          </a:bodyPr>
          <a:lstStyle/>
          <a:p>
            <a:pPr algn="r" rtl="1">
              <a:defRPr sz="1100" b="1">
                <a:solidFill>
                  <a:srgbClr val="0F766E"/>
                </a:solidFill>
                <a:latin typeface="Times New Roman"/>
              </a:defRPr>
            </a:pPr>
            <a:r>
              <a:t>منصة أندرويد الرسمية</a:t>
            </a:r>
          </a:p>
          <a:p>
            <a:pPr algn="r" rtl="1">
              <a:spcBef>
                <a:spcPts val="200"/>
              </a:spcBef>
              <a:defRPr sz="1550" b="1">
                <a:solidFill>
                  <a:srgbClr val="0F172A"/>
                </a:solidFill>
                <a:latin typeface="Times New Roman"/>
              </a:defRPr>
            </a:pPr>
            <a:r>
              <a:t>تطبيق الأندرويد (Android) — جاهز 100%</a:t>
            </a:r>
          </a:p>
          <a:p>
            <a:pPr algn="r" rtl="1">
              <a:spcBef>
                <a:spcPts val="500"/>
              </a:spcBef>
              <a:defRPr sz="1150" b="0">
                <a:solidFill>
                  <a:srgbClr val="334155"/>
                </a:solidFill>
                <a:latin typeface="Times New Roman"/>
              </a:defRPr>
            </a:pPr>
            <a:r>
              <a:t>التطبيق مبني ومختبر ويعمل بكفاءة عالية مع دعم الإشعارات اللحظية والدخول بالبصمة وإمكانية حفظ المحاضرات والملفات للعمل دون إنترنت.</a:t>
            </a:r>
          </a:p>
        </p:txBody>
      </p:sp>
      <p:sp>
        <p:nvSpPr>
          <p:cNvPr id="8" name="Rounded Rectangle 7"/>
          <p:cNvSpPr/>
          <p:nvPr/>
        </p:nvSpPr>
        <p:spPr>
          <a:xfrm>
            <a:off x="6217920" y="1600200"/>
            <a:ext cx="52578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600200"/>
            <a:ext cx="54864"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46504"/>
            <a:ext cx="4800600" cy="1901952"/>
          </a:xfrm>
          <a:prstGeom prst="rect">
            <a:avLst/>
          </a:prstGeom>
          <a:noFill/>
        </p:spPr>
        <p:txBody>
          <a:bodyPr wrap="square" tIns="0" bIns="0" lIns="0" rIns="0">
            <a:spAutoFit/>
          </a:bodyPr>
          <a:lstStyle/>
          <a:p>
            <a:pPr algn="r" rtl="1">
              <a:defRPr sz="1100" b="1">
                <a:solidFill>
                  <a:srgbClr val="1D4ED8"/>
                </a:solidFill>
                <a:latin typeface="Times New Roman"/>
              </a:defRPr>
            </a:pPr>
            <a:r>
              <a:t>منصة iOS الرسمية</a:t>
            </a:r>
          </a:p>
          <a:p>
            <a:pPr algn="r" rtl="1">
              <a:spcBef>
                <a:spcPts val="200"/>
              </a:spcBef>
              <a:defRPr sz="1550" b="1">
                <a:solidFill>
                  <a:srgbClr val="0F172A"/>
                </a:solidFill>
                <a:latin typeface="Times New Roman"/>
              </a:defRPr>
            </a:pPr>
            <a:r>
              <a:t>تطبيق الآيفون (iOS) — مبني ومهيأ عبر GitHub Actions</a:t>
            </a:r>
          </a:p>
          <a:p>
            <a:pPr algn="r" rtl="1">
              <a:spcBef>
                <a:spcPts val="500"/>
              </a:spcBef>
              <a:defRPr sz="1150" b="0">
                <a:solidFill>
                  <a:srgbClr val="334155"/>
                </a:solidFill>
                <a:latin typeface="Times New Roman"/>
              </a:defRPr>
            </a:pPr>
            <a:r>
              <a:t>تم إعداد وتجميع حزمة التطبيق (IPA) بنجاح عبر سحابة أبل على GitHub Actions، وهو مستوفٍ لكافة معايير وشروط متجر App Store.</a:t>
            </a:r>
          </a:p>
        </p:txBody>
      </p:sp>
      <p:sp>
        <p:nvSpPr>
          <p:cNvPr id="11" name="Rounded Rectangle 10"/>
          <p:cNvSpPr/>
          <p:nvPr/>
        </p:nvSpPr>
        <p:spPr>
          <a:xfrm>
            <a:off x="685800" y="406908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05656" y="4069080"/>
            <a:ext cx="54864" cy="21031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15384"/>
            <a:ext cx="3017520" cy="1810511"/>
          </a:xfrm>
          <a:prstGeom prst="rect">
            <a:avLst/>
          </a:prstGeom>
          <a:noFill/>
        </p:spPr>
        <p:txBody>
          <a:bodyPr wrap="square" tIns="0" bIns="0" lIns="0" rIns="0">
            <a:spAutoFit/>
          </a:bodyPr>
          <a:lstStyle/>
          <a:p>
            <a:pPr algn="r" rtl="1">
              <a:defRPr sz="1100" b="1">
                <a:solidFill>
                  <a:srgbClr val="1D4ED8"/>
                </a:solidFill>
                <a:latin typeface="Times New Roman"/>
              </a:defRPr>
            </a:pPr>
            <a:r>
              <a:t>ميزة العمل أوفلاين</a:t>
            </a:r>
          </a:p>
          <a:p>
            <a:pPr algn="r" rtl="1">
              <a:spcBef>
                <a:spcPts val="200"/>
              </a:spcBef>
              <a:defRPr sz="1550" b="1">
                <a:solidFill>
                  <a:srgbClr val="0F172A"/>
                </a:solidFill>
                <a:latin typeface="Times New Roman"/>
              </a:defRPr>
            </a:pPr>
            <a:r>
              <a:t>العمل دون اتصال (Offline First)</a:t>
            </a:r>
          </a:p>
          <a:p>
            <a:pPr algn="r" rtl="1">
              <a:spcBef>
                <a:spcPts val="500"/>
              </a:spcBef>
              <a:defRPr sz="1150" b="0">
                <a:solidFill>
                  <a:srgbClr val="334155"/>
                </a:solidFill>
                <a:latin typeface="Times New Roman"/>
              </a:defRPr>
            </a:pPr>
            <a:r>
              <a:t>قراءة المحاضرات والشيتات المحفوظة مسبقاً وتصفح واجهات التطبيق في حال انقطاع شبكة الإنترنت.</a:t>
            </a:r>
          </a:p>
        </p:txBody>
      </p:sp>
      <p:sp>
        <p:nvSpPr>
          <p:cNvPr id="14" name="Rounded Rectangle 13"/>
          <p:cNvSpPr/>
          <p:nvPr/>
        </p:nvSpPr>
        <p:spPr>
          <a:xfrm>
            <a:off x="4343400" y="406908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63256" y="4069080"/>
            <a:ext cx="54864" cy="2103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215384"/>
            <a:ext cx="3017520" cy="1810511"/>
          </a:xfrm>
          <a:prstGeom prst="rect">
            <a:avLst/>
          </a:prstGeom>
          <a:noFill/>
        </p:spPr>
        <p:txBody>
          <a:bodyPr wrap="square" tIns="0" bIns="0" lIns="0" rIns="0">
            <a:spAutoFit/>
          </a:bodyPr>
          <a:lstStyle/>
          <a:p>
            <a:pPr algn="r" rtl="1">
              <a:defRPr sz="1100" b="1">
                <a:solidFill>
                  <a:srgbClr val="D97706"/>
                </a:solidFill>
                <a:latin typeface="Times New Roman"/>
              </a:defRPr>
            </a:pPr>
            <a:r>
              <a:t>إشعارات النظام اللحظية</a:t>
            </a:r>
          </a:p>
          <a:p>
            <a:pPr algn="r" rtl="1">
              <a:spcBef>
                <a:spcPts val="200"/>
              </a:spcBef>
              <a:defRPr sz="1550" b="1">
                <a:solidFill>
                  <a:srgbClr val="0F172A"/>
                </a:solidFill>
                <a:latin typeface="Times New Roman"/>
              </a:defRPr>
            </a:pPr>
            <a:r>
              <a:t>إشعارات النظام التفاعلية</a:t>
            </a:r>
          </a:p>
          <a:p>
            <a:pPr algn="r" rtl="1">
              <a:spcBef>
                <a:spcPts val="500"/>
              </a:spcBef>
              <a:defRPr sz="1150" b="0">
                <a:solidFill>
                  <a:srgbClr val="334155"/>
                </a:solidFill>
                <a:latin typeface="Times New Roman"/>
              </a:defRPr>
            </a:pPr>
            <a:r>
              <a:t>استقبال الإشعارات والتحذيرات الأكاديمية على الهاتف مباشرة حتى عندما يكون التطبيق مغلقاً بالكامل.</a:t>
            </a:r>
          </a:p>
        </p:txBody>
      </p:sp>
      <p:sp>
        <p:nvSpPr>
          <p:cNvPr id="17" name="Rounded Rectangle 16"/>
          <p:cNvSpPr/>
          <p:nvPr/>
        </p:nvSpPr>
        <p:spPr>
          <a:xfrm>
            <a:off x="8001000" y="406908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20856" y="4069080"/>
            <a:ext cx="54864" cy="21031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4215384"/>
            <a:ext cx="3017520" cy="1810511"/>
          </a:xfrm>
          <a:prstGeom prst="rect">
            <a:avLst/>
          </a:prstGeom>
          <a:noFill/>
        </p:spPr>
        <p:txBody>
          <a:bodyPr wrap="square" tIns="0" bIns="0" lIns="0" rIns="0">
            <a:spAutoFit/>
          </a:bodyPr>
          <a:lstStyle/>
          <a:p>
            <a:pPr algn="r" rtl="1">
              <a:defRPr sz="1100" b="1">
                <a:solidFill>
                  <a:srgbClr val="7C3AED"/>
                </a:solidFill>
                <a:latin typeface="Times New Roman"/>
              </a:defRPr>
            </a:pPr>
            <a:r>
              <a:t>تصميم متجاوب بالكامل</a:t>
            </a:r>
          </a:p>
          <a:p>
            <a:pPr algn="r" rtl="1">
              <a:spcBef>
                <a:spcPts val="200"/>
              </a:spcBef>
              <a:defRPr sz="1550" b="1">
                <a:solidFill>
                  <a:srgbClr val="0F172A"/>
                </a:solidFill>
                <a:latin typeface="Times New Roman"/>
              </a:defRPr>
            </a:pPr>
            <a:r>
              <a:t>واجهة عربية متكيفة بالكامل</a:t>
            </a:r>
          </a:p>
          <a:p>
            <a:pPr algn="r" rtl="1">
              <a:spcBef>
                <a:spcPts val="500"/>
              </a:spcBef>
              <a:defRPr sz="1150" b="0">
                <a:solidFill>
                  <a:srgbClr val="334155"/>
                </a:solidFill>
                <a:latin typeface="Times New Roman"/>
              </a:defRPr>
            </a:pPr>
            <a:r>
              <a:t>تصميم متوافق مع كافة مقاسات الشاشات من الهواتف الصغيرة وحتى الأجهزة اللوحية مع دعم الوضع الليلي.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54864" cy="5943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47472"/>
            <a:ext cx="10637215" cy="868680"/>
          </a:xfrm>
          <a:prstGeom prst="rect">
            <a:avLst/>
          </a:prstGeom>
          <a:noFill/>
        </p:spPr>
        <p:txBody>
          <a:bodyPr wrap="square" tIns="0" bIns="0" lIns="0" rIns="0">
            <a:spAutoFit/>
          </a:bodyPr>
          <a:lstStyle/>
          <a:p>
            <a:pPr algn="r" rtl="1">
              <a:defRPr sz="1200" b="1">
                <a:solidFill>
                  <a:srgbClr val="38BDF8"/>
                </a:solidFill>
                <a:latin typeface="Times New Roman"/>
              </a:defRPr>
            </a:pPr>
            <a:r>
              <a:t>الخاتمة وخطة العمل</a:t>
            </a:r>
          </a:p>
          <a:p>
            <a:pPr algn="r" rtl="1">
              <a:spcBef>
                <a:spcPts val="300"/>
              </a:spcBef>
              <a:defRPr sz="2500" b="1">
                <a:solidFill>
                  <a:srgbClr val="F8FAFC"/>
                </a:solidFill>
                <a:latin typeface="Times New Roman"/>
              </a:defRPr>
            </a:pPr>
            <a:r>
              <a:t>المنصة جاهزة للتشغيل الكامل — التوصيات والقرارات المقترحة</a:t>
            </a:r>
          </a:p>
        </p:txBody>
      </p:sp>
      <p:sp>
        <p:nvSpPr>
          <p:cNvPr id="5" name="Rounded Rectangle 4"/>
          <p:cNvSpPr/>
          <p:nvPr/>
        </p:nvSpPr>
        <p:spPr>
          <a:xfrm>
            <a:off x="685800" y="1783080"/>
            <a:ext cx="5257800" cy="18288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88736" y="1783080"/>
            <a:ext cx="54864" cy="1828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9384"/>
            <a:ext cx="4800600" cy="1536192"/>
          </a:xfrm>
          <a:prstGeom prst="rect">
            <a:avLst/>
          </a:prstGeom>
          <a:noFill/>
        </p:spPr>
        <p:txBody>
          <a:bodyPr wrap="square" tIns="0" bIns="0" lIns="0" rIns="0">
            <a:spAutoFit/>
          </a:bodyPr>
          <a:lstStyle/>
          <a:p>
            <a:pPr algn="r" rtl="1">
              <a:defRPr sz="1100" b="1">
                <a:solidFill>
                  <a:srgbClr val="D97706"/>
                </a:solidFill>
                <a:latin typeface="Times New Roman"/>
              </a:defRPr>
            </a:pPr>
            <a:r>
              <a:t>القرار الأول</a:t>
            </a:r>
          </a:p>
          <a:p>
            <a:pPr algn="r" rtl="1">
              <a:spcBef>
                <a:spcPts val="200"/>
              </a:spcBef>
              <a:defRPr sz="1550" b="1">
                <a:solidFill>
                  <a:srgbClr val="F8FAFC"/>
                </a:solidFill>
                <a:latin typeface="Times New Roman"/>
              </a:defRPr>
            </a:pPr>
            <a:r>
              <a:t>اعتماد التشغيل الرسمي للنظام</a:t>
            </a:r>
          </a:p>
          <a:p>
            <a:pPr algn="r" rtl="1">
              <a:spcBef>
                <a:spcPts val="500"/>
              </a:spcBef>
              <a:defRPr sz="1150" b="0">
                <a:solidFill>
                  <a:srgbClr val="38BDF8"/>
                </a:solidFill>
                <a:latin typeface="Times New Roman"/>
              </a:defRPr>
            </a:pPr>
            <a:r>
              <a:t>إقرار المنصة كمرجع رسمي معتمد لرصد الحضور وتكليفات الواجبات والدرجات بدلاً من الطرق التقليدية لضمان التزام كافة الأطراف.</a:t>
            </a:r>
          </a:p>
        </p:txBody>
      </p:sp>
      <p:sp>
        <p:nvSpPr>
          <p:cNvPr id="8" name="Rounded Rectangle 7"/>
          <p:cNvSpPr/>
          <p:nvPr/>
        </p:nvSpPr>
        <p:spPr>
          <a:xfrm>
            <a:off x="6217920" y="1783080"/>
            <a:ext cx="5257800" cy="18288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20856" y="1783080"/>
            <a:ext cx="54864" cy="1828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9384"/>
            <a:ext cx="4800600" cy="1536192"/>
          </a:xfrm>
          <a:prstGeom prst="rect">
            <a:avLst/>
          </a:prstGeom>
          <a:noFill/>
        </p:spPr>
        <p:txBody>
          <a:bodyPr wrap="square" tIns="0" bIns="0" lIns="0" rIns="0">
            <a:spAutoFit/>
          </a:bodyPr>
          <a:lstStyle/>
          <a:p>
            <a:pPr algn="r" rtl="1">
              <a:defRPr sz="1100" b="1">
                <a:solidFill>
                  <a:srgbClr val="38BDF8"/>
                </a:solidFill>
                <a:latin typeface="Times New Roman"/>
              </a:defRPr>
            </a:pPr>
            <a:r>
              <a:t>القرار الثاني</a:t>
            </a:r>
          </a:p>
          <a:p>
            <a:pPr algn="r" rtl="1">
              <a:spcBef>
                <a:spcPts val="200"/>
              </a:spcBef>
              <a:defRPr sz="1550" b="1">
                <a:solidFill>
                  <a:srgbClr val="F8FAFC"/>
                </a:solidFill>
                <a:latin typeface="Times New Roman"/>
              </a:defRPr>
            </a:pPr>
            <a:r>
              <a:t>ورشة تدريبية قصيرة للأساتذة</a:t>
            </a:r>
          </a:p>
          <a:p>
            <a:pPr algn="r" rtl="1">
              <a:spcBef>
                <a:spcPts val="500"/>
              </a:spcBef>
              <a:defRPr sz="1150" b="0">
                <a:solidFill>
                  <a:srgbClr val="38BDF8"/>
                </a:solidFill>
                <a:latin typeface="Times New Roman"/>
              </a:defRPr>
            </a:pPr>
            <a:r>
              <a:t>تنظيم جلسة تعريفية عملية لأساتذة المواد لشرح آليات رفع المحاضرات وبنك الأسئلة ورصد الحضور والتقييم السريع.</a:t>
            </a:r>
          </a:p>
        </p:txBody>
      </p:sp>
      <p:sp>
        <p:nvSpPr>
          <p:cNvPr id="11" name="Rounded Rectangle 10"/>
          <p:cNvSpPr/>
          <p:nvPr/>
        </p:nvSpPr>
        <p:spPr>
          <a:xfrm>
            <a:off x="685800" y="3794760"/>
            <a:ext cx="5257800" cy="18288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88736" y="3794760"/>
            <a:ext cx="54864" cy="18288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41064"/>
            <a:ext cx="4800600" cy="1536192"/>
          </a:xfrm>
          <a:prstGeom prst="rect">
            <a:avLst/>
          </a:prstGeom>
          <a:noFill/>
        </p:spPr>
        <p:txBody>
          <a:bodyPr wrap="square" tIns="0" bIns="0" lIns="0" rIns="0">
            <a:spAutoFit/>
          </a:bodyPr>
          <a:lstStyle/>
          <a:p>
            <a:pPr algn="r" rtl="1">
              <a:defRPr sz="1100" b="1">
                <a:solidFill>
                  <a:srgbClr val="0F766E"/>
                </a:solidFill>
                <a:latin typeface="Times New Roman"/>
              </a:defRPr>
            </a:pPr>
            <a:r>
              <a:t>القرار الثالث</a:t>
            </a:r>
          </a:p>
          <a:p>
            <a:pPr algn="r" rtl="1">
              <a:spcBef>
                <a:spcPts val="200"/>
              </a:spcBef>
              <a:defRPr sz="1550" b="1">
                <a:solidFill>
                  <a:srgbClr val="F8FAFC"/>
                </a:solidFill>
                <a:latin typeface="Times New Roman"/>
              </a:defRPr>
            </a:pPr>
            <a:r>
              <a:t>تدشين تطبيق الآيفون على App Store</a:t>
            </a:r>
          </a:p>
          <a:p>
            <a:pPr algn="r" rtl="1">
              <a:spcBef>
                <a:spcPts val="500"/>
              </a:spcBef>
              <a:defRPr sz="1150" b="0">
                <a:solidFill>
                  <a:srgbClr val="38BDF8"/>
                </a:solidFill>
                <a:latin typeface="Times New Roman"/>
              </a:defRPr>
            </a:pPr>
            <a:r>
              <a:t>حساب مطور أبل جاهز، والعمل جارٍ لرفع التطبيق واعتماده رسمياً على متجر App Store لإتاحته لطلاب الكلية.</a:t>
            </a:r>
          </a:p>
        </p:txBody>
      </p:sp>
      <p:sp>
        <p:nvSpPr>
          <p:cNvPr id="14" name="Rounded Rectangle 13"/>
          <p:cNvSpPr/>
          <p:nvPr/>
        </p:nvSpPr>
        <p:spPr>
          <a:xfrm>
            <a:off x="6217920" y="3794760"/>
            <a:ext cx="5257800" cy="1828800"/>
          </a:xfrm>
          <a:prstGeom prst="roundRect">
            <a:avLst/>
          </a:prstGeom>
          <a:solidFill>
            <a:srgbClr val="112240"/>
          </a:solidFill>
          <a:ln w="1270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20856" y="3794760"/>
            <a:ext cx="54864" cy="18288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941064"/>
            <a:ext cx="4800600" cy="1536192"/>
          </a:xfrm>
          <a:prstGeom prst="rect">
            <a:avLst/>
          </a:prstGeom>
          <a:noFill/>
        </p:spPr>
        <p:txBody>
          <a:bodyPr wrap="square" tIns="0" bIns="0" lIns="0" rIns="0">
            <a:spAutoFit/>
          </a:bodyPr>
          <a:lstStyle/>
          <a:p>
            <a:pPr algn="r" rtl="1">
              <a:defRPr sz="1100" b="1">
                <a:solidFill>
                  <a:srgbClr val="1D4ED8"/>
                </a:solidFill>
                <a:latin typeface="Times New Roman"/>
              </a:defRPr>
            </a:pPr>
            <a:r>
              <a:t>القرار الرابع</a:t>
            </a:r>
          </a:p>
          <a:p>
            <a:pPr algn="r" rtl="1">
              <a:spcBef>
                <a:spcPts val="200"/>
              </a:spcBef>
              <a:defRPr sz="1550" b="1">
                <a:solidFill>
                  <a:srgbClr val="F8FAFC"/>
                </a:solidFill>
                <a:latin typeface="Times New Roman"/>
              </a:defRPr>
            </a:pPr>
            <a:r>
              <a:t>تعيين مسؤول مراجعة البلاغات</a:t>
            </a:r>
          </a:p>
          <a:p>
            <a:pPr algn="r" rtl="1">
              <a:spcBef>
                <a:spcPts val="500"/>
              </a:spcBef>
              <a:defRPr sz="1150" b="0">
                <a:solidFill>
                  <a:srgbClr val="38BDF8"/>
                </a:solidFill>
                <a:latin typeface="Times New Roman"/>
              </a:defRPr>
            </a:pPr>
            <a:r>
              <a:t>تكليف موظف إداري بمتابعة بلاغات المحتوى لضمان الاستجابة السريعة خلال 24 ساعة كمتطلب استمرار في المتاجر.</a:t>
            </a:r>
          </a:p>
        </p:txBody>
      </p:sp>
      <p:sp>
        <p:nvSpPr>
          <p:cNvPr id="17" name="TextBox 16"/>
          <p:cNvSpPr txBox="1"/>
          <p:nvPr/>
        </p:nvSpPr>
        <p:spPr>
          <a:xfrm>
            <a:off x="685800" y="6080760"/>
            <a:ext cx="10820095" cy="365760"/>
          </a:xfrm>
          <a:prstGeom prst="rect">
            <a:avLst/>
          </a:prstGeom>
          <a:noFill/>
        </p:spPr>
        <p:txBody>
          <a:bodyPr wrap="none">
            <a:spAutoFit/>
          </a:bodyPr>
          <a:lstStyle/>
          <a:p>
            <a:pPr algn="r" rtl="1">
              <a:defRPr sz="1200" b="0">
                <a:solidFill>
                  <a:srgbClr val="64748B"/>
                </a:solidFill>
                <a:latin typeface="Times New Roman"/>
              </a:defRPr>
            </a:pPr>
            <a:r>
              <a:t>كلية النصر التقنية — النظام الجامعي الرقمي المتكامل · الإصدار المعتمد ٢.١.٠ · شكر وتقدير لمجلس الكلية والعمادة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