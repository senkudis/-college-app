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05840"/>
            <a:ext cx="10972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88720"/>
            <a:ext cx="10820095" cy="2926080"/>
          </a:xfrm>
          <a:prstGeom prst="rect">
            <a:avLst/>
          </a:prstGeom>
          <a:noFill/>
        </p:spPr>
        <p:txBody>
          <a:bodyPr wrap="square" tIns="0" bIns="0" lIns="0" rIns="0">
            <a:spAutoFit/>
          </a:bodyPr>
          <a:lstStyle/>
          <a:p>
            <a:pPr algn="r" rtl="1">
              <a:defRPr sz="1500" b="1">
                <a:solidFill>
                  <a:srgbClr val="7DD3FC"/>
                </a:solidFill>
                <a:latin typeface="Segoe UI"/>
              </a:defRPr>
            </a:pPr>
            <a:r>
              <a:t>كلية النصر التقنية — جامعة النصر التقنية</a:t>
            </a:r>
          </a:p>
          <a:p>
            <a:pPr algn="r" rtl="1">
              <a:spcBef>
                <a:spcPts val="1000"/>
              </a:spcBef>
              <a:defRPr sz="4000" b="1">
                <a:solidFill>
                  <a:srgbClr val="F1F5F9"/>
                </a:solidFill>
                <a:latin typeface="Segoe UI"/>
              </a:defRPr>
            </a:pPr>
            <a:r>
              <a:t>النظام الجامعي الرقمي المتكامل</a:t>
            </a:r>
          </a:p>
          <a:p>
            <a:pPr algn="r" rtl="1">
              <a:spcBef>
                <a:spcPts val="1400"/>
              </a:spcBef>
              <a:defRPr sz="1550" b="0">
                <a:solidFill>
                  <a:srgbClr val="CBD5E1"/>
                </a:solidFill>
                <a:latin typeface="Segoe UI"/>
              </a:defRPr>
            </a:pPr>
            <a:r>
              <a:t>منصة موحدة وشاملة لإدارة العمليات الأكاديمية والمالية والحضور والتواصل — عبر الويب وتطبيقات الهواتف الذكية</a:t>
            </a:r>
          </a:p>
        </p:txBody>
      </p:sp>
      <p:sp>
        <p:nvSpPr>
          <p:cNvPr id="5" name="Rectangle 4"/>
          <p:cNvSpPr/>
          <p:nvPr/>
        </p:nvSpPr>
        <p:spPr>
          <a:xfrm>
            <a:off x="8991295" y="4480560"/>
            <a:ext cx="2514600" cy="128016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991295" y="4480560"/>
            <a:ext cx="25146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28455" y="4590288"/>
            <a:ext cx="2240280" cy="1097280"/>
          </a:xfrm>
          <a:prstGeom prst="rect">
            <a:avLst/>
          </a:prstGeom>
          <a:noFill/>
        </p:spPr>
        <p:txBody>
          <a:bodyPr wrap="square" tIns="0" bIns="0" lIns="0" rIns="0">
            <a:spAutoFit/>
          </a:bodyPr>
          <a:lstStyle/>
          <a:p>
            <a:pPr algn="ctr">
              <a:defRPr sz="2800" b="1">
                <a:solidFill>
                  <a:srgbClr val="D97706"/>
                </a:solidFill>
                <a:latin typeface="Segoe UI"/>
              </a:defRPr>
            </a:pPr>
            <a:r>
              <a:t>٥</a:t>
            </a:r>
          </a:p>
          <a:p>
            <a:pPr algn="ctr" rtl="1">
              <a:spcBef>
                <a:spcPts val="200"/>
              </a:spcBef>
              <a:defRPr sz="1300" b="1">
                <a:solidFill>
                  <a:srgbClr val="F1F5F9"/>
                </a:solidFill>
                <a:latin typeface="Segoe UI"/>
              </a:defRPr>
            </a:pPr>
            <a:r>
              <a:t>أدوار بصلاحيات</a:t>
            </a:r>
          </a:p>
          <a:p>
            <a:pPr algn="ctr" rtl="1">
              <a:defRPr sz="1050" b="0">
                <a:solidFill>
                  <a:srgbClr val="94A3B8"/>
                </a:solidFill>
                <a:latin typeface="Segoe UI"/>
              </a:defRPr>
            </a:pPr>
            <a:r>
              <a:t>عزل أمني تام</a:t>
            </a:r>
          </a:p>
        </p:txBody>
      </p:sp>
      <p:sp>
        <p:nvSpPr>
          <p:cNvPr id="8" name="Rectangle 7"/>
          <p:cNvSpPr/>
          <p:nvPr/>
        </p:nvSpPr>
        <p:spPr>
          <a:xfrm>
            <a:off x="6293815" y="4480560"/>
            <a:ext cx="2514600" cy="128016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3815" y="4480560"/>
            <a:ext cx="2514600" cy="3657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4590288"/>
            <a:ext cx="2240280" cy="1097280"/>
          </a:xfrm>
          <a:prstGeom prst="rect">
            <a:avLst/>
          </a:prstGeom>
          <a:noFill/>
        </p:spPr>
        <p:txBody>
          <a:bodyPr wrap="square" tIns="0" bIns="0" lIns="0" rIns="0">
            <a:spAutoFit/>
          </a:bodyPr>
          <a:lstStyle/>
          <a:p>
            <a:pPr algn="ctr">
              <a:defRPr sz="2800" b="1">
                <a:solidFill>
                  <a:srgbClr val="7DD3FC"/>
                </a:solidFill>
                <a:latin typeface="Segoe UI"/>
              </a:defRPr>
            </a:pPr>
            <a:r>
              <a:t>٣٠</a:t>
            </a:r>
          </a:p>
          <a:p>
            <a:pPr algn="ctr" rtl="1">
              <a:spcBef>
                <a:spcPts val="200"/>
              </a:spcBef>
              <a:defRPr sz="1300" b="1">
                <a:solidFill>
                  <a:srgbClr val="F1F5F9"/>
                </a:solidFill>
                <a:latin typeface="Segoe UI"/>
              </a:defRPr>
            </a:pPr>
            <a:r>
              <a:t>وحدة خدمية</a:t>
            </a:r>
          </a:p>
          <a:p>
            <a:pPr algn="ctr" rtl="1">
              <a:defRPr sz="1050" b="0">
                <a:solidFill>
                  <a:srgbClr val="94A3B8"/>
                </a:solidFill>
                <a:latin typeface="Segoe UI"/>
              </a:defRPr>
            </a:pPr>
            <a:r>
              <a:t>API Backend</a:t>
            </a:r>
          </a:p>
        </p:txBody>
      </p:sp>
      <p:sp>
        <p:nvSpPr>
          <p:cNvPr id="11" name="Rectangle 10"/>
          <p:cNvSpPr/>
          <p:nvPr/>
        </p:nvSpPr>
        <p:spPr>
          <a:xfrm>
            <a:off x="3596335" y="4480560"/>
            <a:ext cx="2514600" cy="128016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96335" y="4480560"/>
            <a:ext cx="25146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3495" y="4590288"/>
            <a:ext cx="2240280" cy="1097280"/>
          </a:xfrm>
          <a:prstGeom prst="rect">
            <a:avLst/>
          </a:prstGeom>
          <a:noFill/>
        </p:spPr>
        <p:txBody>
          <a:bodyPr wrap="square" tIns="0" bIns="0" lIns="0" rIns="0">
            <a:spAutoFit/>
          </a:bodyPr>
          <a:lstStyle/>
          <a:p>
            <a:pPr algn="ctr">
              <a:defRPr sz="2800" b="1">
                <a:solidFill>
                  <a:srgbClr val="0F766E"/>
                </a:solidFill>
                <a:latin typeface="Segoe UI"/>
              </a:defRPr>
            </a:pPr>
            <a:r>
              <a:t>٥٠</a:t>
            </a:r>
          </a:p>
          <a:p>
            <a:pPr algn="ctr" rtl="1">
              <a:spcBef>
                <a:spcPts val="200"/>
              </a:spcBef>
              <a:defRPr sz="1300" b="1">
                <a:solidFill>
                  <a:srgbClr val="F1F5F9"/>
                </a:solidFill>
                <a:latin typeface="Segoe UI"/>
              </a:defRPr>
            </a:pPr>
            <a:r>
              <a:t>شاشة تفاعلية</a:t>
            </a:r>
          </a:p>
          <a:p>
            <a:pPr algn="ctr" rtl="1">
              <a:defRPr sz="1050" b="0">
                <a:solidFill>
                  <a:srgbClr val="94A3B8"/>
                </a:solidFill>
                <a:latin typeface="Segoe UI"/>
              </a:defRPr>
            </a:pPr>
            <a:r>
              <a:t>واجهة مستخدم حديثة</a:t>
            </a:r>
          </a:p>
        </p:txBody>
      </p:sp>
      <p:sp>
        <p:nvSpPr>
          <p:cNvPr id="14" name="Rectangle 13"/>
          <p:cNvSpPr/>
          <p:nvPr/>
        </p:nvSpPr>
        <p:spPr>
          <a:xfrm>
            <a:off x="898855" y="4480560"/>
            <a:ext cx="2514600" cy="128016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8855" y="4480560"/>
            <a:ext cx="2514600"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6015" y="4590288"/>
            <a:ext cx="2240280" cy="1097280"/>
          </a:xfrm>
          <a:prstGeom prst="rect">
            <a:avLst/>
          </a:prstGeom>
          <a:noFill/>
        </p:spPr>
        <p:txBody>
          <a:bodyPr wrap="square" tIns="0" bIns="0" lIns="0" rIns="0">
            <a:spAutoFit/>
          </a:bodyPr>
          <a:lstStyle/>
          <a:p>
            <a:pPr algn="ctr">
              <a:defRPr sz="2800" b="1">
                <a:solidFill>
                  <a:srgbClr val="1E40AF"/>
                </a:solidFill>
                <a:latin typeface="Segoe UI"/>
              </a:defRPr>
            </a:pPr>
            <a:r>
              <a:t>٢.١.٠</a:t>
            </a:r>
          </a:p>
          <a:p>
            <a:pPr algn="ctr" rtl="1">
              <a:spcBef>
                <a:spcPts val="200"/>
              </a:spcBef>
              <a:defRPr sz="1300" b="1">
                <a:solidFill>
                  <a:srgbClr val="F1F5F9"/>
                </a:solidFill>
                <a:latin typeface="Segoe UI"/>
              </a:defRPr>
            </a:pPr>
            <a:r>
              <a:t>الإصدار المعتمد</a:t>
            </a:r>
          </a:p>
          <a:p>
            <a:pPr algn="ctr" rtl="1">
              <a:defRPr sz="1050" b="0">
                <a:solidFill>
                  <a:srgbClr val="94A3B8"/>
                </a:solidFill>
                <a:latin typeface="Segoe UI"/>
              </a:defRPr>
            </a:pPr>
            <a:r>
              <a:t>جاهز للتشغيل الرسمي</a:t>
            </a:r>
          </a:p>
        </p:txBody>
      </p:sp>
      <p:sp>
        <p:nvSpPr>
          <p:cNvPr id="17" name="TextBox 16"/>
          <p:cNvSpPr txBox="1"/>
          <p:nvPr/>
        </p:nvSpPr>
        <p:spPr>
          <a:xfrm>
            <a:off x="685800" y="6126480"/>
            <a:ext cx="10820095" cy="320040"/>
          </a:xfrm>
          <a:prstGeom prst="rect">
            <a:avLst/>
          </a:prstGeom>
          <a:noFill/>
        </p:spPr>
        <p:txBody>
          <a:bodyPr wrap="none">
            <a:spAutoFit/>
          </a:bodyPr>
          <a:lstStyle/>
          <a:p>
            <a:pPr algn="r" rtl="1">
              <a:defRPr sz="1150" b="0">
                <a:solidFill>
                  <a:srgbClr val="64748B"/>
                </a:solidFill>
                <a:latin typeface="Segoe UI"/>
              </a:defRPr>
            </a:pPr>
            <a:r>
              <a:t>عرض تقديمي موجه لمجلس الإدارة الأكاديمية والعمادة الموقرة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الرؤية والدافع ]</a:t>
            </a:r>
          </a:p>
          <a:p>
            <a:pPr algn="r" rtl="1">
              <a:spcBef>
                <a:spcPts val="300"/>
              </a:spcBef>
              <a:defRPr sz="2600" b="1">
                <a:solidFill>
                  <a:srgbClr val="0F172A"/>
                </a:solidFill>
                <a:latin typeface="Segoe UI"/>
              </a:defRPr>
            </a:pPr>
            <a:r>
              <a:t>التحديات التشغيلية والحلول الجذرية التي يقدمها النظام</a:t>
            </a:r>
          </a:p>
        </p:txBody>
      </p:sp>
      <p:sp>
        <p:nvSpPr>
          <p:cNvPr id="5" name="Rectangle 4"/>
          <p:cNvSpPr/>
          <p:nvPr/>
        </p:nvSpPr>
        <p:spPr>
          <a:xfrm>
            <a:off x="685800" y="1600200"/>
            <a:ext cx="5257800" cy="2011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600200"/>
            <a:ext cx="54864" cy="20116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4800600" cy="1682496"/>
          </a:xfrm>
          <a:prstGeom prst="rect">
            <a:avLst/>
          </a:prstGeom>
          <a:noFill/>
        </p:spPr>
        <p:txBody>
          <a:bodyPr wrap="square" tIns="0" bIns="0" lIns="0" rIns="0">
            <a:spAutoFit/>
          </a:bodyPr>
          <a:lstStyle/>
          <a:p>
            <a:pPr algn="r" rtl="1">
              <a:defRPr sz="1500" b="1">
                <a:solidFill>
                  <a:srgbClr val="0F172A"/>
                </a:solidFill>
                <a:latin typeface="Segoe UI"/>
              </a:defRPr>
            </a:pPr>
            <a:r>
              <a:t>[ حفظ وأرشفة ]  تشتت المحتوى والمحاضرات</a:t>
            </a:r>
          </a:p>
          <a:p>
            <a:pPr algn="r" rtl="1">
              <a:spcBef>
                <a:spcPts val="600"/>
              </a:spcBef>
              <a:defRPr sz="1150" b="0">
                <a:solidFill>
                  <a:srgbClr val="334155"/>
                </a:solidFill>
                <a:latin typeface="Segoe UI"/>
              </a:defRPr>
            </a:pPr>
            <a:r>
              <a:t>المحاضرات والواجبات موزعة بين مجموعات الواتساب غير الرسمية والأوراق، مما يعرضها للضياع ويصعب أرشفتها.</a:t>
            </a:r>
          </a:p>
        </p:txBody>
      </p:sp>
      <p:sp>
        <p:nvSpPr>
          <p:cNvPr id="8" name="Rectangle 7"/>
          <p:cNvSpPr/>
          <p:nvPr/>
        </p:nvSpPr>
        <p:spPr>
          <a:xfrm>
            <a:off x="6217920" y="1600200"/>
            <a:ext cx="5257800" cy="2011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600200"/>
            <a:ext cx="54864" cy="20116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64792"/>
            <a:ext cx="4800600" cy="1682496"/>
          </a:xfrm>
          <a:prstGeom prst="rect">
            <a:avLst/>
          </a:prstGeom>
          <a:noFill/>
        </p:spPr>
        <p:txBody>
          <a:bodyPr wrap="square" tIns="0" bIns="0" lIns="0" rIns="0">
            <a:spAutoFit/>
          </a:bodyPr>
          <a:lstStyle/>
          <a:p>
            <a:pPr algn="r" rtl="1">
              <a:defRPr sz="1500" b="1">
                <a:solidFill>
                  <a:srgbClr val="0F172A"/>
                </a:solidFill>
                <a:latin typeface="Segoe UI"/>
              </a:defRPr>
            </a:pPr>
            <a:r>
              <a:t>[ متابعة دقيقة ]  الرصد اليدوي والغياب المفاجئ</a:t>
            </a:r>
          </a:p>
          <a:p>
            <a:pPr algn="r" rtl="1">
              <a:spcBef>
                <a:spcPts val="600"/>
              </a:spcBef>
              <a:defRPr sz="1150" b="0">
                <a:solidFill>
                  <a:srgbClr val="334155"/>
                </a:solidFill>
                <a:latin typeface="Segoe UI"/>
              </a:defRPr>
            </a:pPr>
            <a:r>
              <a:t>كشوف الحضور تُسجل وتُحسب يدوياً دون تنبيه مبكر للطالب قبل تجاوزه النسبة القانونية للحرمان.</a:t>
            </a:r>
          </a:p>
        </p:txBody>
      </p:sp>
      <p:sp>
        <p:nvSpPr>
          <p:cNvPr id="11" name="Rectangle 10"/>
          <p:cNvSpPr/>
          <p:nvPr/>
        </p:nvSpPr>
        <p:spPr>
          <a:xfrm>
            <a:off x="685800" y="3840480"/>
            <a:ext cx="5257800" cy="2011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88736" y="3840480"/>
            <a:ext cx="54864" cy="20116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05072"/>
            <a:ext cx="4800600" cy="1682496"/>
          </a:xfrm>
          <a:prstGeom prst="rect">
            <a:avLst/>
          </a:prstGeom>
          <a:noFill/>
        </p:spPr>
        <p:txBody>
          <a:bodyPr wrap="square" tIns="0" bIns="0" lIns="0" rIns="0">
            <a:spAutoFit/>
          </a:bodyPr>
          <a:lstStyle/>
          <a:p>
            <a:pPr algn="r" rtl="1">
              <a:defRPr sz="1500" b="1">
                <a:solidFill>
                  <a:srgbClr val="0F172A"/>
                </a:solidFill>
                <a:latin typeface="Segoe UI"/>
              </a:defRPr>
            </a:pPr>
            <a:r>
              <a:t>[ ربط مالي ]  انفصال المالية عن السجل الأكاديمي</a:t>
            </a:r>
          </a:p>
          <a:p>
            <a:pPr algn="r" rtl="1">
              <a:spcBef>
                <a:spcPts val="600"/>
              </a:spcBef>
              <a:defRPr sz="1150" b="0">
                <a:solidFill>
                  <a:srgbClr val="334155"/>
                </a:solidFill>
                <a:latin typeface="Segoe UI"/>
              </a:defRPr>
            </a:pPr>
            <a:r>
              <a:t>الرسوم تُدار في دفاتر منفصلة، ويضطر الطالب للانتظار اليدوي لمعرفة موقفه المالي وإيصالاته.</a:t>
            </a:r>
          </a:p>
        </p:txBody>
      </p:sp>
      <p:sp>
        <p:nvSpPr>
          <p:cNvPr id="14" name="Rectangle 13"/>
          <p:cNvSpPr/>
          <p:nvPr/>
        </p:nvSpPr>
        <p:spPr>
          <a:xfrm>
            <a:off x="6217920" y="3840480"/>
            <a:ext cx="5257800" cy="2011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3840480"/>
            <a:ext cx="54864" cy="20116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05072"/>
            <a:ext cx="4800600" cy="1682496"/>
          </a:xfrm>
          <a:prstGeom prst="rect">
            <a:avLst/>
          </a:prstGeom>
          <a:noFill/>
        </p:spPr>
        <p:txBody>
          <a:bodyPr wrap="square" tIns="0" bIns="0" lIns="0" rIns="0">
            <a:spAutoFit/>
          </a:bodyPr>
          <a:lstStyle/>
          <a:p>
            <a:pPr algn="r" rtl="1">
              <a:defRPr sz="1500" b="1">
                <a:solidFill>
                  <a:srgbClr val="0F172A"/>
                </a:solidFill>
                <a:latin typeface="Segoe UI"/>
              </a:defRPr>
            </a:pPr>
            <a:r>
              <a:t>[ مصدر موحد ]  غياب المصدر الموحد للتقارير والقرار</a:t>
            </a:r>
          </a:p>
          <a:p>
            <a:pPr algn="r" rtl="1">
              <a:spcBef>
                <a:spcPts val="600"/>
              </a:spcBef>
              <a:defRPr sz="1150" b="0">
                <a:solidFill>
                  <a:srgbClr val="334155"/>
                </a:solidFill>
                <a:latin typeface="Segoe UI"/>
              </a:defRPr>
            </a:pPr>
            <a:r>
              <a:t>تعدد مصادر البيانات يعيق استخراج مؤشرات الأداء الحقيقية ويؤخر اتخاذ القرارات الأكاديمية.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نظرة عامة على المشروع ]</a:t>
            </a:r>
          </a:p>
          <a:p>
            <a:pPr algn="r" rtl="1">
              <a:spcBef>
                <a:spcPts val="300"/>
              </a:spcBef>
              <a:defRPr sz="2600" b="1">
                <a:solidFill>
                  <a:srgbClr val="0F172A"/>
                </a:solidFill>
                <a:latin typeface="Segoe UI"/>
              </a:defRPr>
            </a:pPr>
            <a:r>
              <a:t>النظام في أرقام واقعية مستخرجة من بنية الكود</a:t>
            </a:r>
          </a:p>
        </p:txBody>
      </p:sp>
      <p:sp>
        <p:nvSpPr>
          <p:cNvPr id="5" name="Rectangle 4"/>
          <p:cNvSpPr/>
          <p:nvPr/>
        </p:nvSpPr>
        <p:spPr>
          <a:xfrm>
            <a:off x="685800" y="1600200"/>
            <a:ext cx="2560320" cy="1828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00200"/>
            <a:ext cx="256032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46504"/>
            <a:ext cx="2286000" cy="1536192"/>
          </a:xfrm>
          <a:prstGeom prst="rect">
            <a:avLst/>
          </a:prstGeom>
          <a:noFill/>
        </p:spPr>
        <p:txBody>
          <a:bodyPr wrap="square" tIns="0" bIns="0" lIns="0" rIns="0">
            <a:spAutoFit/>
          </a:bodyPr>
          <a:lstStyle/>
          <a:p>
            <a:pPr algn="ctr">
              <a:defRPr sz="4000" b="1">
                <a:solidFill>
                  <a:srgbClr val="1E40AF"/>
                </a:solidFill>
                <a:latin typeface="Segoe UI"/>
              </a:defRPr>
            </a:pPr>
            <a:r>
              <a:t>٣٠</a:t>
            </a:r>
          </a:p>
          <a:p>
            <a:pPr algn="ctr" rtl="1">
              <a:spcBef>
                <a:spcPts val="300"/>
              </a:spcBef>
              <a:defRPr sz="1350" b="1">
                <a:solidFill>
                  <a:srgbClr val="0F172A"/>
                </a:solidFill>
                <a:latin typeface="Segoe UI"/>
              </a:defRPr>
            </a:pPr>
            <a:r>
              <a:t>وحدة خدمية (API)</a:t>
            </a:r>
          </a:p>
          <a:p>
            <a:pPr algn="ctr" rtl="1">
              <a:spcBef>
                <a:spcPts val="200"/>
              </a:spcBef>
              <a:defRPr sz="1050" b="0">
                <a:solidFill>
                  <a:srgbClr val="64748B"/>
                </a:solidFill>
                <a:latin typeface="Segoe UI"/>
              </a:defRPr>
            </a:pPr>
            <a:r>
              <a:t>تغطي كافة الاحتياجات الأكاديمية</a:t>
            </a:r>
          </a:p>
        </p:txBody>
      </p:sp>
      <p:sp>
        <p:nvSpPr>
          <p:cNvPr id="8" name="Rectangle 7"/>
          <p:cNvSpPr/>
          <p:nvPr/>
        </p:nvSpPr>
        <p:spPr>
          <a:xfrm>
            <a:off x="3429000" y="1600200"/>
            <a:ext cx="2560320" cy="1828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29000" y="1600200"/>
            <a:ext cx="256032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746504"/>
            <a:ext cx="2286000" cy="1536192"/>
          </a:xfrm>
          <a:prstGeom prst="rect">
            <a:avLst/>
          </a:prstGeom>
          <a:noFill/>
        </p:spPr>
        <p:txBody>
          <a:bodyPr wrap="square" tIns="0" bIns="0" lIns="0" rIns="0">
            <a:spAutoFit/>
          </a:bodyPr>
          <a:lstStyle/>
          <a:p>
            <a:pPr algn="ctr">
              <a:defRPr sz="4000" b="1">
                <a:solidFill>
                  <a:srgbClr val="0F766E"/>
                </a:solidFill>
                <a:latin typeface="Segoe UI"/>
              </a:defRPr>
            </a:pPr>
            <a:r>
              <a:t>٥٠</a:t>
            </a:r>
          </a:p>
          <a:p>
            <a:pPr algn="ctr" rtl="1">
              <a:spcBef>
                <a:spcPts val="300"/>
              </a:spcBef>
              <a:defRPr sz="1350" b="1">
                <a:solidFill>
                  <a:srgbClr val="0F172A"/>
                </a:solidFill>
                <a:latin typeface="Segoe UI"/>
              </a:defRPr>
            </a:pPr>
            <a:r>
              <a:t>شاشة تفاعلية</a:t>
            </a:r>
          </a:p>
          <a:p>
            <a:pPr algn="ctr" rtl="1">
              <a:spcBef>
                <a:spcPts val="200"/>
              </a:spcBef>
              <a:defRPr sz="1050" b="0">
                <a:solidFill>
                  <a:srgbClr val="64748B"/>
                </a:solidFill>
                <a:latin typeface="Segoe UI"/>
              </a:defRPr>
            </a:pPr>
            <a:r>
              <a:t>مصممة للويب والهاتف بسلاسة</a:t>
            </a:r>
          </a:p>
        </p:txBody>
      </p:sp>
      <p:sp>
        <p:nvSpPr>
          <p:cNvPr id="11" name="Rectangle 10"/>
          <p:cNvSpPr/>
          <p:nvPr/>
        </p:nvSpPr>
        <p:spPr>
          <a:xfrm>
            <a:off x="6172200" y="1600200"/>
            <a:ext cx="2560320" cy="1828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600200"/>
            <a:ext cx="2560320" cy="457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746504"/>
            <a:ext cx="2286000" cy="1536192"/>
          </a:xfrm>
          <a:prstGeom prst="rect">
            <a:avLst/>
          </a:prstGeom>
          <a:noFill/>
        </p:spPr>
        <p:txBody>
          <a:bodyPr wrap="square" tIns="0" bIns="0" lIns="0" rIns="0">
            <a:spAutoFit/>
          </a:bodyPr>
          <a:lstStyle/>
          <a:p>
            <a:pPr algn="ctr">
              <a:defRPr sz="4000" b="1">
                <a:solidFill>
                  <a:srgbClr val="6D28D9"/>
                </a:solidFill>
                <a:latin typeface="Segoe UI"/>
              </a:defRPr>
            </a:pPr>
            <a:r>
              <a:t>٢٨</a:t>
            </a:r>
          </a:p>
          <a:p>
            <a:pPr algn="ctr" rtl="1">
              <a:spcBef>
                <a:spcPts val="300"/>
              </a:spcBef>
              <a:defRPr sz="1350" b="1">
                <a:solidFill>
                  <a:srgbClr val="0F172A"/>
                </a:solidFill>
                <a:latin typeface="Segoe UI"/>
              </a:defRPr>
            </a:pPr>
            <a:r>
              <a:t>نموذج بيانات</a:t>
            </a:r>
          </a:p>
          <a:p>
            <a:pPr algn="ctr" rtl="1">
              <a:spcBef>
                <a:spcPts val="200"/>
              </a:spcBef>
              <a:defRPr sz="1050" b="0">
                <a:solidFill>
                  <a:srgbClr val="64748B"/>
                </a:solidFill>
                <a:latin typeface="Segoe UI"/>
              </a:defRPr>
            </a:pPr>
            <a:r>
              <a:t>بنية قوية ومترابطة في MongoDB</a:t>
            </a:r>
          </a:p>
        </p:txBody>
      </p:sp>
      <p:sp>
        <p:nvSpPr>
          <p:cNvPr id="14" name="Rectangle 13"/>
          <p:cNvSpPr/>
          <p:nvPr/>
        </p:nvSpPr>
        <p:spPr>
          <a:xfrm>
            <a:off x="8915400" y="1600200"/>
            <a:ext cx="2560320" cy="1828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15400" y="1600200"/>
            <a:ext cx="2560320"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746504"/>
            <a:ext cx="2286000" cy="1536192"/>
          </a:xfrm>
          <a:prstGeom prst="rect">
            <a:avLst/>
          </a:prstGeom>
          <a:noFill/>
        </p:spPr>
        <p:txBody>
          <a:bodyPr wrap="square" tIns="0" bIns="0" lIns="0" rIns="0">
            <a:spAutoFit/>
          </a:bodyPr>
          <a:lstStyle/>
          <a:p>
            <a:pPr algn="ctr">
              <a:defRPr sz="4000" b="1">
                <a:solidFill>
                  <a:srgbClr val="D97706"/>
                </a:solidFill>
                <a:latin typeface="Segoe UI"/>
              </a:defRPr>
            </a:pPr>
            <a:r>
              <a:t>٥</a:t>
            </a:r>
          </a:p>
          <a:p>
            <a:pPr algn="ctr" rtl="1">
              <a:spcBef>
                <a:spcPts val="300"/>
              </a:spcBef>
              <a:defRPr sz="1350" b="1">
                <a:solidFill>
                  <a:srgbClr val="0F172A"/>
                </a:solidFill>
                <a:latin typeface="Segoe UI"/>
              </a:defRPr>
            </a:pPr>
            <a:r>
              <a:t>أدوار بصلاحيات</a:t>
            </a:r>
          </a:p>
          <a:p>
            <a:pPr algn="ctr" rtl="1">
              <a:spcBef>
                <a:spcPts val="200"/>
              </a:spcBef>
              <a:defRPr sz="1050" b="0">
                <a:solidFill>
                  <a:srgbClr val="64748B"/>
                </a:solidFill>
                <a:latin typeface="Segoe UI"/>
              </a:defRPr>
            </a:pPr>
            <a:r>
              <a:t>عزل أمني تام ومحكم بين المستخدمين</a:t>
            </a:r>
          </a:p>
        </p:txBody>
      </p:sp>
      <p:sp>
        <p:nvSpPr>
          <p:cNvPr id="17" name="Rectangle 16"/>
          <p:cNvSpPr/>
          <p:nvPr/>
        </p:nvSpPr>
        <p:spPr>
          <a:xfrm>
            <a:off x="685800" y="3886200"/>
            <a:ext cx="10789920" cy="2286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20856" y="3886200"/>
            <a:ext cx="54864" cy="2286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50791"/>
            <a:ext cx="10332720" cy="1956816"/>
          </a:xfrm>
          <a:prstGeom prst="rect">
            <a:avLst/>
          </a:prstGeom>
          <a:noFill/>
        </p:spPr>
        <p:txBody>
          <a:bodyPr wrap="square" tIns="0" bIns="0" lIns="0" rIns="0">
            <a:spAutoFit/>
          </a:bodyPr>
          <a:lstStyle/>
          <a:p>
            <a:pPr algn="r" rtl="1">
              <a:defRPr sz="1500" b="1">
                <a:solidFill>
                  <a:srgbClr val="0F172A"/>
                </a:solidFill>
                <a:latin typeface="Segoe UI"/>
              </a:defRPr>
            </a:pPr>
            <a:r>
              <a:t>[ بنية تقنية حديثة ]  بنية موحدة تخدم الويب وتطبيقات الهواتف (Android &amp; iOS) من مصدر واحد</a:t>
            </a:r>
          </a:p>
          <a:p>
            <a:pPr algn="r" rtl="1">
              <a:spcBef>
                <a:spcPts val="600"/>
              </a:spcBef>
              <a:defRPr sz="1150" b="0">
                <a:solidFill>
                  <a:srgbClr val="334155"/>
                </a:solidFill>
                <a:latin typeface="Segoe UI"/>
              </a:defRPr>
            </a:pPr>
            <a:r>
              <a:t>يعتمد النظام على خادم موحد حديث مبني بـ Node.js و Express وقاعدة بيانات MongoDB، يخدم البوابة الإلكترونية وتطبيقات الهواتف الذكية في وقت واحد. أي تحديث في المقررات أو الإعلانات يصل لجميع المستخدمين فوراً دون الحاجة لإعادة تثبيت التطبيق. كما يدعم العمل بدون اتصال بالإنترنت وحفظ المحاضرات للدراسة في أي وقت.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الحوكمة والأدوار ]</a:t>
            </a:r>
          </a:p>
          <a:p>
            <a:pPr algn="r" rtl="1">
              <a:spcBef>
                <a:spcPts val="300"/>
              </a:spcBef>
              <a:defRPr sz="2600" b="1">
                <a:solidFill>
                  <a:srgbClr val="0F172A"/>
                </a:solidFill>
                <a:latin typeface="Segoe UI"/>
              </a:defRPr>
            </a:pPr>
            <a:r>
              <a:t>خمسة مستويات صلاحية — عزل أمني دقيق ومفروض برمجياً</a:t>
            </a:r>
          </a:p>
        </p:txBody>
      </p:sp>
      <p:sp>
        <p:nvSpPr>
          <p:cNvPr id="5" name="Rectangle 4"/>
          <p:cNvSpPr/>
          <p:nvPr/>
        </p:nvSpPr>
        <p:spPr>
          <a:xfrm>
            <a:off x="685800" y="1554480"/>
            <a:ext cx="10789920" cy="84124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420856" y="1554480"/>
            <a:ext cx="54864" cy="84124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10332720" cy="512064"/>
          </a:xfrm>
          <a:prstGeom prst="rect">
            <a:avLst/>
          </a:prstGeom>
          <a:noFill/>
        </p:spPr>
        <p:txBody>
          <a:bodyPr wrap="square" tIns="0" bIns="0" lIns="0" rIns="0">
            <a:spAutoFit/>
          </a:bodyPr>
          <a:lstStyle/>
          <a:p>
            <a:pPr algn="r" rtl="1">
              <a:defRPr sz="1500" b="1">
                <a:solidFill>
                  <a:srgbClr val="0F172A"/>
                </a:solidFill>
                <a:latin typeface="Segoe UI"/>
              </a:defRPr>
            </a:pPr>
            <a:r>
              <a:t>[ الدور 01 ]  الطالب (Student)</a:t>
            </a:r>
          </a:p>
          <a:p>
            <a:pPr algn="r" rtl="1">
              <a:spcBef>
                <a:spcPts val="600"/>
              </a:spcBef>
              <a:defRPr sz="1150" b="0">
                <a:solidFill>
                  <a:srgbClr val="334155"/>
                </a:solidFill>
                <a:latin typeface="Segoe UI"/>
              </a:defRPr>
            </a:pPr>
            <a:r>
              <a:t>الوصول للمواد، المحاضرات والشيتات، تسليم الواجبات، بنك الاختبارات، الحضور، والسجل الأكاديمي والمالي الشخصي.</a:t>
            </a:r>
          </a:p>
        </p:txBody>
      </p:sp>
      <p:sp>
        <p:nvSpPr>
          <p:cNvPr id="8" name="Rectangle 7"/>
          <p:cNvSpPr/>
          <p:nvPr/>
        </p:nvSpPr>
        <p:spPr>
          <a:xfrm>
            <a:off x="685800" y="2487168"/>
            <a:ext cx="10789920" cy="84124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2487168"/>
            <a:ext cx="54864" cy="8412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10332720" cy="512064"/>
          </a:xfrm>
          <a:prstGeom prst="rect">
            <a:avLst/>
          </a:prstGeom>
          <a:noFill/>
        </p:spPr>
        <p:txBody>
          <a:bodyPr wrap="square" tIns="0" bIns="0" lIns="0" rIns="0">
            <a:spAutoFit/>
          </a:bodyPr>
          <a:lstStyle/>
          <a:p>
            <a:pPr algn="r" rtl="1">
              <a:defRPr sz="1500" b="1">
                <a:solidFill>
                  <a:srgbClr val="0F172A"/>
                </a:solidFill>
                <a:latin typeface="Segoe UI"/>
              </a:defRPr>
            </a:pPr>
            <a:r>
              <a:t>[ الدور 02 ]  قائد الدفعة (Batch Leader)</a:t>
            </a:r>
          </a:p>
          <a:p>
            <a:pPr algn="r" rtl="1">
              <a:spcBef>
                <a:spcPts val="600"/>
              </a:spcBef>
              <a:defRPr sz="1150" b="0">
                <a:solidFill>
                  <a:srgbClr val="334155"/>
                </a:solidFill>
                <a:latin typeface="Segoe UI"/>
              </a:defRPr>
            </a:pPr>
            <a:r>
              <a:t>صلاحيات الطالب، بالإضافة إلى تسهيل رفع محاضرات الدفعة، المساعدة في رصد الحضور، وإرسال التنبيهات المباشرة.</a:t>
            </a:r>
          </a:p>
        </p:txBody>
      </p:sp>
      <p:sp>
        <p:nvSpPr>
          <p:cNvPr id="11" name="Rectangle 10"/>
          <p:cNvSpPr/>
          <p:nvPr/>
        </p:nvSpPr>
        <p:spPr>
          <a:xfrm>
            <a:off x="685800" y="3419856"/>
            <a:ext cx="10789920" cy="84124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3419856"/>
            <a:ext cx="54864" cy="84124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84448"/>
            <a:ext cx="10332720" cy="512064"/>
          </a:xfrm>
          <a:prstGeom prst="rect">
            <a:avLst/>
          </a:prstGeom>
          <a:noFill/>
        </p:spPr>
        <p:txBody>
          <a:bodyPr wrap="square" tIns="0" bIns="0" lIns="0" rIns="0">
            <a:spAutoFit/>
          </a:bodyPr>
          <a:lstStyle/>
          <a:p>
            <a:pPr algn="r" rtl="1">
              <a:defRPr sz="1500" b="1">
                <a:solidFill>
                  <a:srgbClr val="0F172A"/>
                </a:solidFill>
                <a:latin typeface="Segoe UI"/>
              </a:defRPr>
            </a:pPr>
            <a:r>
              <a:t>[ الدور 03 ]  أستاذ المادة (Professor)</a:t>
            </a:r>
          </a:p>
          <a:p>
            <a:pPr algn="r" rtl="1">
              <a:spcBef>
                <a:spcPts val="600"/>
              </a:spcBef>
              <a:defRPr sz="1150" b="0">
                <a:solidFill>
                  <a:srgbClr val="334155"/>
                </a:solidFill>
                <a:latin typeface="Segoe UI"/>
              </a:defRPr>
            </a:pPr>
            <a:r>
              <a:t>إدارة المواد والمحاضرات، إعداد الاختبارات وتحديد مددها، تصحيح وتقييم التكليفات، ورصد الحضور والتقارير الأكاديمية.</a:t>
            </a:r>
          </a:p>
        </p:txBody>
      </p:sp>
      <p:sp>
        <p:nvSpPr>
          <p:cNvPr id="14" name="Rectangle 13"/>
          <p:cNvSpPr/>
          <p:nvPr/>
        </p:nvSpPr>
        <p:spPr>
          <a:xfrm>
            <a:off x="685800" y="4352544"/>
            <a:ext cx="10789920" cy="84124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4352544"/>
            <a:ext cx="54864" cy="84124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517136"/>
            <a:ext cx="10332720" cy="512064"/>
          </a:xfrm>
          <a:prstGeom prst="rect">
            <a:avLst/>
          </a:prstGeom>
          <a:noFill/>
        </p:spPr>
        <p:txBody>
          <a:bodyPr wrap="square" tIns="0" bIns="0" lIns="0" rIns="0">
            <a:spAutoFit/>
          </a:bodyPr>
          <a:lstStyle/>
          <a:p>
            <a:pPr algn="r" rtl="1">
              <a:defRPr sz="1500" b="1">
                <a:solidFill>
                  <a:srgbClr val="0F172A"/>
                </a:solidFill>
                <a:latin typeface="Segoe UI"/>
              </a:defRPr>
            </a:pPr>
            <a:r>
              <a:t>[ الدور 04 ]  العميد وإدارة الكلية (Dean)</a:t>
            </a:r>
          </a:p>
          <a:p>
            <a:pPr algn="r" rtl="1">
              <a:spcBef>
                <a:spcPts val="600"/>
              </a:spcBef>
              <a:defRPr sz="1150" b="0">
                <a:solidFill>
                  <a:srgbClr val="334155"/>
                </a:solidFill>
                <a:latin typeface="Segoe UI"/>
              </a:defRPr>
            </a:pPr>
            <a:r>
              <a:t>صلاحيات إشرافية شاملة: إدارة المستخدمين والدفعات، متابعة المالية والرسوم، استخراج التقارير المركزية، ومراجعة البلاغات.</a:t>
            </a:r>
          </a:p>
        </p:txBody>
      </p:sp>
      <p:sp>
        <p:nvSpPr>
          <p:cNvPr id="17" name="Rectangle 16"/>
          <p:cNvSpPr/>
          <p:nvPr/>
        </p:nvSpPr>
        <p:spPr>
          <a:xfrm>
            <a:off x="685800" y="5285232"/>
            <a:ext cx="10789920" cy="84124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20856" y="5285232"/>
            <a:ext cx="54864" cy="84124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449824"/>
            <a:ext cx="10332720" cy="512064"/>
          </a:xfrm>
          <a:prstGeom prst="rect">
            <a:avLst/>
          </a:prstGeom>
          <a:noFill/>
        </p:spPr>
        <p:txBody>
          <a:bodyPr wrap="square" tIns="0" bIns="0" lIns="0" rIns="0">
            <a:spAutoFit/>
          </a:bodyPr>
          <a:lstStyle/>
          <a:p>
            <a:pPr algn="r" rtl="1">
              <a:defRPr sz="1500" b="1">
                <a:solidFill>
                  <a:srgbClr val="0F172A"/>
                </a:solidFill>
                <a:latin typeface="Segoe UI"/>
              </a:defRPr>
            </a:pPr>
            <a:r>
              <a:t>[ الدور 05 ]  مسؤول النظام (System Admin)</a:t>
            </a:r>
          </a:p>
          <a:p>
            <a:pPr algn="r" rtl="1">
              <a:spcBef>
                <a:spcPts val="600"/>
              </a:spcBef>
              <a:defRPr sz="1150" b="0">
                <a:solidFill>
                  <a:srgbClr val="334155"/>
                </a:solidFill>
                <a:latin typeface="Segoe UI"/>
              </a:defRPr>
            </a:pPr>
            <a:r>
              <a:t>المراقبة التشغيلية للخوادم، إدارة النسخ الاحتياطي، ضبط إعدادات الإصدارات، ومتابعة الأداء واستقرار الخدمة.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المحور الأكاديمي ]</a:t>
            </a:r>
          </a:p>
          <a:p>
            <a:pPr algn="r" rtl="1">
              <a:spcBef>
                <a:spcPts val="300"/>
              </a:spcBef>
              <a:defRPr sz="2600" b="1">
                <a:solidFill>
                  <a:srgbClr val="0F172A"/>
                </a:solidFill>
                <a:latin typeface="Segoe UI"/>
              </a:defRPr>
            </a:pPr>
            <a:r>
              <a:t>إدارة الدورة الأكاديمية من المحاضرة حتى التقييم والرصد</a:t>
            </a:r>
          </a:p>
        </p:txBody>
      </p:sp>
      <p:sp>
        <p:nvSpPr>
          <p:cNvPr id="5" name="Rectangle 4"/>
          <p:cNvSpPr/>
          <p:nvPr/>
        </p:nvSpPr>
        <p:spPr>
          <a:xfrm>
            <a:off x="685800" y="1600200"/>
            <a:ext cx="256032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91256" y="1600200"/>
            <a:ext cx="54864" cy="21945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2103120" cy="1865376"/>
          </a:xfrm>
          <a:prstGeom prst="rect">
            <a:avLst/>
          </a:prstGeom>
          <a:noFill/>
        </p:spPr>
        <p:txBody>
          <a:bodyPr wrap="square" tIns="0" bIns="0" lIns="0" rIns="0">
            <a:spAutoFit/>
          </a:bodyPr>
          <a:lstStyle/>
          <a:p>
            <a:pPr algn="r" rtl="1">
              <a:defRPr sz="1500" b="1">
                <a:solidFill>
                  <a:srgbClr val="0F172A"/>
                </a:solidFill>
                <a:latin typeface="Segoe UI"/>
              </a:defRPr>
            </a:pPr>
            <a:r>
              <a:t>[ خطوة 01 ]  المواد والدفعات</a:t>
            </a:r>
          </a:p>
          <a:p>
            <a:pPr algn="r" rtl="1">
              <a:spcBef>
                <a:spcPts val="600"/>
              </a:spcBef>
              <a:defRPr sz="1150" b="0">
                <a:solidFill>
                  <a:srgbClr val="334155"/>
                </a:solidFill>
                <a:latin typeface="Segoe UI"/>
              </a:defRPr>
            </a:pPr>
            <a:r>
              <a:t>إنشاء الدفعات وتخصيص المواد وإسناد الأساتذة المختصين.</a:t>
            </a:r>
          </a:p>
        </p:txBody>
      </p:sp>
      <p:sp>
        <p:nvSpPr>
          <p:cNvPr id="8" name="Rectangle 7"/>
          <p:cNvSpPr/>
          <p:nvPr/>
        </p:nvSpPr>
        <p:spPr>
          <a:xfrm>
            <a:off x="3429000" y="1600200"/>
            <a:ext cx="256032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34456" y="1600200"/>
            <a:ext cx="54864" cy="21945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764792"/>
            <a:ext cx="2103120" cy="1865376"/>
          </a:xfrm>
          <a:prstGeom prst="rect">
            <a:avLst/>
          </a:prstGeom>
          <a:noFill/>
        </p:spPr>
        <p:txBody>
          <a:bodyPr wrap="square" tIns="0" bIns="0" lIns="0" rIns="0">
            <a:spAutoFit/>
          </a:bodyPr>
          <a:lstStyle/>
          <a:p>
            <a:pPr algn="r" rtl="1">
              <a:defRPr sz="1500" b="1">
                <a:solidFill>
                  <a:srgbClr val="0F172A"/>
                </a:solidFill>
                <a:latin typeface="Segoe UI"/>
              </a:defRPr>
            </a:pPr>
            <a:r>
              <a:t>[ خطوة 02 ]  رفع المحاضرات</a:t>
            </a:r>
          </a:p>
          <a:p>
            <a:pPr algn="r" rtl="1">
              <a:spcBef>
                <a:spcPts val="600"/>
              </a:spcBef>
              <a:defRPr sz="1150" b="0">
                <a:solidFill>
                  <a:srgbClr val="334155"/>
                </a:solidFill>
                <a:latin typeface="Segoe UI"/>
              </a:defRPr>
            </a:pPr>
            <a:r>
              <a:t>رفع ملفات PDF والفيديوهات مع ترتيب تسلسلي وإمكانية الحفظ للعمل دون اتصال.</a:t>
            </a:r>
          </a:p>
        </p:txBody>
      </p:sp>
      <p:sp>
        <p:nvSpPr>
          <p:cNvPr id="11" name="Rectangle 10"/>
          <p:cNvSpPr/>
          <p:nvPr/>
        </p:nvSpPr>
        <p:spPr>
          <a:xfrm>
            <a:off x="6172200" y="1600200"/>
            <a:ext cx="256032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77656" y="1600200"/>
            <a:ext cx="54864" cy="21945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64792"/>
            <a:ext cx="2103120" cy="1865376"/>
          </a:xfrm>
          <a:prstGeom prst="rect">
            <a:avLst/>
          </a:prstGeom>
          <a:noFill/>
        </p:spPr>
        <p:txBody>
          <a:bodyPr wrap="square" tIns="0" bIns="0" lIns="0" rIns="0">
            <a:spAutoFit/>
          </a:bodyPr>
          <a:lstStyle/>
          <a:p>
            <a:pPr algn="r" rtl="1">
              <a:defRPr sz="1500" b="1">
                <a:solidFill>
                  <a:srgbClr val="0F172A"/>
                </a:solidFill>
                <a:latin typeface="Segoe UI"/>
              </a:defRPr>
            </a:pPr>
            <a:r>
              <a:t>[ خطوة 03 ]  التكليفات والواجبات</a:t>
            </a:r>
          </a:p>
          <a:p>
            <a:pPr algn="r" rtl="1">
              <a:spcBef>
                <a:spcPts val="600"/>
              </a:spcBef>
              <a:defRPr sz="1150" b="0">
                <a:solidFill>
                  <a:srgbClr val="334155"/>
                </a:solidFill>
                <a:latin typeface="Segoe UI"/>
              </a:defRPr>
            </a:pPr>
            <a:r>
              <a:t>طرح الواجبات بموعد استحقاق محدد، ورفع الحلول مع منع التأخير التلقائي.</a:t>
            </a:r>
          </a:p>
        </p:txBody>
      </p:sp>
      <p:sp>
        <p:nvSpPr>
          <p:cNvPr id="14" name="Rectangle 13"/>
          <p:cNvSpPr/>
          <p:nvPr/>
        </p:nvSpPr>
        <p:spPr>
          <a:xfrm>
            <a:off x="8915400" y="1600200"/>
            <a:ext cx="256032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1600200"/>
            <a:ext cx="54864" cy="21945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1764792"/>
            <a:ext cx="2103120" cy="1865376"/>
          </a:xfrm>
          <a:prstGeom prst="rect">
            <a:avLst/>
          </a:prstGeom>
          <a:noFill/>
        </p:spPr>
        <p:txBody>
          <a:bodyPr wrap="square" tIns="0" bIns="0" lIns="0" rIns="0">
            <a:spAutoFit/>
          </a:bodyPr>
          <a:lstStyle/>
          <a:p>
            <a:pPr algn="r" rtl="1">
              <a:defRPr sz="1500" b="1">
                <a:solidFill>
                  <a:srgbClr val="0F172A"/>
                </a:solidFill>
                <a:latin typeface="Segoe UI"/>
              </a:defRPr>
            </a:pPr>
            <a:r>
              <a:t>[ خطوة 04 ]  التصحيح والرصد</a:t>
            </a:r>
          </a:p>
          <a:p>
            <a:pPr algn="r" rtl="1">
              <a:spcBef>
                <a:spcPts val="600"/>
              </a:spcBef>
              <a:defRPr sz="1150" b="0">
                <a:solidFill>
                  <a:srgbClr val="334155"/>
                </a:solidFill>
                <a:latin typeface="Segoe UI"/>
              </a:defRPr>
            </a:pPr>
            <a:r>
              <a:t>رصد الدرجات وكتابة الملاحظات مع إشعار الطالب بالنتيجة لحظياً.</a:t>
            </a:r>
          </a:p>
        </p:txBody>
      </p:sp>
      <p:sp>
        <p:nvSpPr>
          <p:cNvPr id="17" name="Rectangle 16"/>
          <p:cNvSpPr/>
          <p:nvPr/>
        </p:nvSpPr>
        <p:spPr>
          <a:xfrm>
            <a:off x="685800" y="4114800"/>
            <a:ext cx="5257800" cy="2011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88736" y="4114800"/>
            <a:ext cx="54864" cy="2011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79392"/>
            <a:ext cx="4800600" cy="1682496"/>
          </a:xfrm>
          <a:prstGeom prst="rect">
            <a:avLst/>
          </a:prstGeom>
          <a:noFill/>
        </p:spPr>
        <p:txBody>
          <a:bodyPr wrap="square" tIns="0" bIns="0" lIns="0" rIns="0">
            <a:spAutoFit/>
          </a:bodyPr>
          <a:lstStyle/>
          <a:p>
            <a:pPr algn="r" rtl="1">
              <a:defRPr sz="1500" b="1">
                <a:solidFill>
                  <a:srgbClr val="0F172A"/>
                </a:solidFill>
                <a:latin typeface="Segoe UI"/>
              </a:defRPr>
            </a:pPr>
            <a:r>
              <a:t>[ تحسين التحصيل ]  إعادة التسليم لتحسين التحصيل الأكاديمي</a:t>
            </a:r>
          </a:p>
          <a:p>
            <a:pPr algn="r" rtl="1">
              <a:spcBef>
                <a:spcPts val="600"/>
              </a:spcBef>
              <a:defRPr sz="1150" b="0">
                <a:solidFill>
                  <a:srgbClr val="334155"/>
                </a:solidFill>
                <a:latin typeface="Segoe UI"/>
              </a:defRPr>
            </a:pPr>
            <a:r>
              <a:t>يمنح النظام فرصة للطلاب الحاصلين على أقل من 60% لإعادة تسليم التكليف خلال مهلة محددة (7 أيام) مع وسم المحاولة كمتأخرة أمام الأستاذ لضمان العدالة.</a:t>
            </a:r>
          </a:p>
        </p:txBody>
      </p:sp>
      <p:sp>
        <p:nvSpPr>
          <p:cNvPr id="20" name="Rectangle 19"/>
          <p:cNvSpPr/>
          <p:nvPr/>
        </p:nvSpPr>
        <p:spPr>
          <a:xfrm>
            <a:off x="6217920" y="4114800"/>
            <a:ext cx="5257800" cy="2011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20856" y="4114800"/>
            <a:ext cx="54864"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279392"/>
            <a:ext cx="4800600" cy="1682496"/>
          </a:xfrm>
          <a:prstGeom prst="rect">
            <a:avLst/>
          </a:prstGeom>
          <a:noFill/>
        </p:spPr>
        <p:txBody>
          <a:bodyPr wrap="square" tIns="0" bIns="0" lIns="0" rIns="0">
            <a:spAutoFit/>
          </a:bodyPr>
          <a:lstStyle/>
          <a:p>
            <a:pPr algn="r" rtl="1">
              <a:defRPr sz="1500" b="1">
                <a:solidFill>
                  <a:srgbClr val="0F172A"/>
                </a:solidFill>
                <a:latin typeface="Segoe UI"/>
              </a:defRPr>
            </a:pPr>
            <a:r>
              <a:t>[ متابعة مستمرة ]  لوحة المتابعة للواجبات غير المسلمة</a:t>
            </a:r>
          </a:p>
          <a:p>
            <a:pPr algn="r" rtl="1">
              <a:spcBef>
                <a:spcPts val="600"/>
              </a:spcBef>
              <a:defRPr sz="1150" b="0">
                <a:solidFill>
                  <a:srgbClr val="334155"/>
                </a:solidFill>
                <a:latin typeface="Segoe UI"/>
              </a:defRPr>
            </a:pPr>
            <a:r>
              <a:t>تمكّن الأستاذ من استعراض قائمة الطلاب الذين لم يقوموا بتسليم الواجب بضغطة زر واحدة لتوجيه التذكيرات لهم قبل إغلاق الموعد النهائي.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حماية التحصيل الأكاديمي ]</a:t>
            </a:r>
          </a:p>
          <a:p>
            <a:pPr algn="r" rtl="1">
              <a:spcBef>
                <a:spcPts val="300"/>
              </a:spcBef>
              <a:defRPr sz="2600" b="1">
                <a:solidFill>
                  <a:srgbClr val="0F172A"/>
                </a:solidFill>
                <a:latin typeface="Segoe UI"/>
              </a:defRPr>
            </a:pPr>
            <a:r>
              <a:t>رصد الحضور الإلكتروني ونظام الإنذار المبكر للطلاب المتعثرين</a:t>
            </a:r>
          </a:p>
        </p:txBody>
      </p:sp>
      <p:sp>
        <p:nvSpPr>
          <p:cNvPr id="5" name="Rectangle 4"/>
          <p:cNvSpPr/>
          <p:nvPr/>
        </p:nvSpPr>
        <p:spPr>
          <a:xfrm>
            <a:off x="685800" y="1600200"/>
            <a:ext cx="525780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600200"/>
            <a:ext cx="54864" cy="2057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4800600" cy="1728216"/>
          </a:xfrm>
          <a:prstGeom prst="rect">
            <a:avLst/>
          </a:prstGeom>
          <a:noFill/>
        </p:spPr>
        <p:txBody>
          <a:bodyPr wrap="square" tIns="0" bIns="0" lIns="0" rIns="0">
            <a:spAutoFit/>
          </a:bodyPr>
          <a:lstStyle/>
          <a:p>
            <a:pPr algn="r" rtl="1">
              <a:defRPr sz="1500" b="1">
                <a:solidFill>
                  <a:srgbClr val="0F172A"/>
                </a:solidFill>
                <a:latin typeface="Segoe UI"/>
              </a:defRPr>
            </a:pPr>
            <a:r>
              <a:t>[ رصد فوري ]  رصد الحضور اليومي السريع</a:t>
            </a:r>
          </a:p>
          <a:p>
            <a:pPr algn="r" rtl="1">
              <a:spcBef>
                <a:spcPts val="600"/>
              </a:spcBef>
              <a:defRPr sz="1150" b="0">
                <a:solidFill>
                  <a:srgbClr val="334155"/>
                </a:solidFill>
                <a:latin typeface="Segoe UI"/>
              </a:defRPr>
            </a:pPr>
            <a:r>
              <a:t>يقوم الأستاذ أو قائد الدفعة بتسجيل الحضور بضغطة زر لكل محاضرة. يعتمد النظام سجلاً موحداً يمنع تكرار الرصد ويوثق هوية الراصد وتوقيت العملية بدقة.</a:t>
            </a:r>
          </a:p>
        </p:txBody>
      </p:sp>
      <p:sp>
        <p:nvSpPr>
          <p:cNvPr id="8" name="Rectangle 7"/>
          <p:cNvSpPr/>
          <p:nvPr/>
        </p:nvSpPr>
        <p:spPr>
          <a:xfrm>
            <a:off x="6217920" y="1600200"/>
            <a:ext cx="525780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600200"/>
            <a:ext cx="54864" cy="2057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64792"/>
            <a:ext cx="4800600" cy="1728216"/>
          </a:xfrm>
          <a:prstGeom prst="rect">
            <a:avLst/>
          </a:prstGeom>
          <a:noFill/>
        </p:spPr>
        <p:txBody>
          <a:bodyPr wrap="square" tIns="0" bIns="0" lIns="0" rIns="0">
            <a:spAutoFit/>
          </a:bodyPr>
          <a:lstStyle/>
          <a:p>
            <a:pPr algn="r" rtl="1">
              <a:defRPr sz="1500" b="1">
                <a:solidFill>
                  <a:srgbClr val="0F172A"/>
                </a:solidFill>
                <a:latin typeface="Segoe UI"/>
              </a:defRPr>
            </a:pPr>
            <a:r>
              <a:t>[ إنذار آلي ]  التنبيه الآلي عند تخطي حاجز الغياب</a:t>
            </a:r>
          </a:p>
          <a:p>
            <a:pPr algn="r" rtl="1">
              <a:spcBef>
                <a:spcPts val="600"/>
              </a:spcBef>
              <a:defRPr sz="1150" b="0">
                <a:solidFill>
                  <a:srgbClr val="334155"/>
                </a:solidFill>
                <a:latin typeface="Segoe UI"/>
              </a:defRPr>
            </a:pPr>
            <a:r>
              <a:t>بمجرد انخفاض نسبة حضور الطالب إلى أقل من 75%، يقوم النظام تلقائياً بإرسال تنبيه مباشر إلى هاتفه يحذره من مخاطر الحرمان من الامتحان النهائي.</a:t>
            </a:r>
          </a:p>
        </p:txBody>
      </p:sp>
      <p:sp>
        <p:nvSpPr>
          <p:cNvPr id="11" name="Rectangle 10"/>
          <p:cNvSpPr/>
          <p:nvPr/>
        </p:nvSpPr>
        <p:spPr>
          <a:xfrm>
            <a:off x="685800" y="3977639"/>
            <a:ext cx="10789920" cy="2240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3977639"/>
            <a:ext cx="54864" cy="2240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42231"/>
            <a:ext cx="10332720" cy="1911096"/>
          </a:xfrm>
          <a:prstGeom prst="rect">
            <a:avLst/>
          </a:prstGeom>
          <a:noFill/>
        </p:spPr>
        <p:txBody>
          <a:bodyPr wrap="square" tIns="0" bIns="0" lIns="0" rIns="0">
            <a:spAutoFit/>
          </a:bodyPr>
          <a:lstStyle/>
          <a:p>
            <a:pPr algn="r" rtl="1">
              <a:defRPr sz="1500" b="1">
                <a:solidFill>
                  <a:srgbClr val="0F172A"/>
                </a:solidFill>
                <a:latin typeface="Segoe UI"/>
              </a:defRPr>
            </a:pPr>
            <a:r>
              <a:t>[ حوكمة ومتابعة ]  تقرير الإنذار المبكر الاستباقي (Early Warning System)</a:t>
            </a:r>
          </a:p>
          <a:p>
            <a:pPr algn="r" rtl="1">
              <a:spcBef>
                <a:spcPts val="600"/>
              </a:spcBef>
              <a:defRPr sz="1150" b="0">
                <a:solidFill>
                  <a:srgbClr val="334155"/>
                </a:solidFill>
                <a:latin typeface="Segoe UI"/>
              </a:defRPr>
            </a:pPr>
            <a:r>
              <a:t>لوحة استخبارات أكاديمية متقدمة للعميد ورؤساء الأقسام تجمع 3 محاور أساسية: (معدل تراجع الحضور + تراكم الواجبات غير المسلمة + نتائج الاختبارات الدورية). يصنف التقرير الطلاب إلى 3 مستويات خطر (مرتفع، متوسط، منخفض) ليتيح للكلية التدخل الإرشادي المبكر ومعالجة تعثر الطالب قبل الامتحانات النهائية.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التقييم المستمر ]</a:t>
            </a:r>
          </a:p>
          <a:p>
            <a:pPr algn="r" rtl="1">
              <a:spcBef>
                <a:spcPts val="300"/>
              </a:spcBef>
              <a:defRPr sz="2600" b="1">
                <a:solidFill>
                  <a:srgbClr val="0F172A"/>
                </a:solidFill>
                <a:latin typeface="Segoe UI"/>
              </a:defRPr>
            </a:pPr>
            <a:r>
              <a:t>منظومة الاختبارات الإلكترونية وأرشيف بنك الامتحانات السابقة</a:t>
            </a:r>
          </a:p>
        </p:txBody>
      </p:sp>
      <p:sp>
        <p:nvSpPr>
          <p:cNvPr id="5" name="Rectangle 4"/>
          <p:cNvSpPr/>
          <p:nvPr/>
        </p:nvSpPr>
        <p:spPr>
          <a:xfrm>
            <a:off x="685800" y="1600200"/>
            <a:ext cx="525780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600200"/>
            <a:ext cx="54864" cy="2057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4800600" cy="1728216"/>
          </a:xfrm>
          <a:prstGeom prst="rect">
            <a:avLst/>
          </a:prstGeom>
          <a:noFill/>
        </p:spPr>
        <p:txBody>
          <a:bodyPr wrap="square" tIns="0" bIns="0" lIns="0" rIns="0">
            <a:spAutoFit/>
          </a:bodyPr>
          <a:lstStyle/>
          <a:p>
            <a:pPr algn="r" rtl="1">
              <a:defRPr sz="1500" b="1">
                <a:solidFill>
                  <a:srgbClr val="0F172A"/>
                </a:solidFill>
                <a:latin typeface="Segoe UI"/>
              </a:defRPr>
            </a:pPr>
            <a:r>
              <a:t>[ اختبارات موقوتة ]  اختبارات دورية موقوتة من الخادم</a:t>
            </a:r>
          </a:p>
          <a:p>
            <a:pPr algn="r" rtl="1">
              <a:spcBef>
                <a:spcPts val="600"/>
              </a:spcBef>
              <a:defRPr sz="1150" b="0">
                <a:solidFill>
                  <a:srgbClr val="334155"/>
                </a:solidFill>
                <a:latin typeface="Segoe UI"/>
              </a:defRPr>
            </a:pPr>
            <a:r>
              <a:t>يحدد الأستاذ نافذة إتاحة الاختبار ومدته بالدقائق. يتم احتساب الوقت بدقة عبر الخادم لضمان عدم التلاعب بالمؤقت حتى لو أُغلقت الصفحة.</a:t>
            </a:r>
          </a:p>
        </p:txBody>
      </p:sp>
      <p:sp>
        <p:nvSpPr>
          <p:cNvPr id="8" name="Rectangle 7"/>
          <p:cNvSpPr/>
          <p:nvPr/>
        </p:nvSpPr>
        <p:spPr>
          <a:xfrm>
            <a:off x="6217920" y="1600200"/>
            <a:ext cx="525780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600200"/>
            <a:ext cx="54864" cy="2057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64792"/>
            <a:ext cx="4800600" cy="1728216"/>
          </a:xfrm>
          <a:prstGeom prst="rect">
            <a:avLst/>
          </a:prstGeom>
          <a:noFill/>
        </p:spPr>
        <p:txBody>
          <a:bodyPr wrap="square" tIns="0" bIns="0" lIns="0" rIns="0">
            <a:spAutoFit/>
          </a:bodyPr>
          <a:lstStyle/>
          <a:p>
            <a:pPr algn="r" rtl="1">
              <a:defRPr sz="1500" b="1">
                <a:solidFill>
                  <a:srgbClr val="0F172A"/>
                </a:solidFill>
                <a:latin typeface="Segoe UI"/>
              </a:defRPr>
            </a:pPr>
            <a:r>
              <a:t>[ تصحيح فوري ]  تصحيح آلي فوري وإعلان النتائج</a:t>
            </a:r>
          </a:p>
          <a:p>
            <a:pPr algn="r" rtl="1">
              <a:spcBef>
                <a:spcPts val="600"/>
              </a:spcBef>
              <a:defRPr sz="1150" b="0">
                <a:solidFill>
                  <a:srgbClr val="334155"/>
                </a:solidFill>
                <a:latin typeface="Segoe UI"/>
              </a:defRPr>
            </a:pPr>
            <a:r>
              <a:t>أسئلة اختيار من متعدد مع درجات مخصصة وتغذية راجعة، وتظهر النتيجة مع تفاصيل الإجابات الصحيحة لحظة التسليم فوراً.</a:t>
            </a:r>
          </a:p>
        </p:txBody>
      </p:sp>
      <p:sp>
        <p:nvSpPr>
          <p:cNvPr id="11" name="Rectangle 10"/>
          <p:cNvSpPr/>
          <p:nvPr/>
        </p:nvSpPr>
        <p:spPr>
          <a:xfrm>
            <a:off x="685800" y="3886200"/>
            <a:ext cx="525780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88736" y="3886200"/>
            <a:ext cx="54864" cy="20574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50791"/>
            <a:ext cx="4800600" cy="1728216"/>
          </a:xfrm>
          <a:prstGeom prst="rect">
            <a:avLst/>
          </a:prstGeom>
          <a:noFill/>
        </p:spPr>
        <p:txBody>
          <a:bodyPr wrap="square" tIns="0" bIns="0" lIns="0" rIns="0">
            <a:spAutoFit/>
          </a:bodyPr>
          <a:lstStyle/>
          <a:p>
            <a:pPr algn="r" rtl="1">
              <a:defRPr sz="1500" b="1">
                <a:solidFill>
                  <a:srgbClr val="0F172A"/>
                </a:solidFill>
                <a:latin typeface="Segoe UI"/>
              </a:defRPr>
            </a:pPr>
            <a:r>
              <a:t>[ أرشيف امتحانات ]  بنك الامتحانات النهائية السابقة</a:t>
            </a:r>
          </a:p>
          <a:p>
            <a:pPr algn="r" rtl="1">
              <a:spcBef>
                <a:spcPts val="600"/>
              </a:spcBef>
              <a:defRPr sz="1150" b="0">
                <a:solidFill>
                  <a:srgbClr val="334155"/>
                </a:solidFill>
                <a:latin typeface="Segoe UI"/>
              </a:defRPr>
            </a:pPr>
            <a:r>
              <a:t>أرشيف رقمي منظم يحتوي على نماذج امتحانات السنوات السابقة مصنفة حسب المادة والفصل الدراسي لتمكين الطلاب من الاستعداد الأمثل.</a:t>
            </a:r>
          </a:p>
        </p:txBody>
      </p:sp>
      <p:sp>
        <p:nvSpPr>
          <p:cNvPr id="14" name="Rectangle 13"/>
          <p:cNvSpPr/>
          <p:nvPr/>
        </p:nvSpPr>
        <p:spPr>
          <a:xfrm>
            <a:off x="6217920" y="3886200"/>
            <a:ext cx="525780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3886200"/>
            <a:ext cx="54864" cy="2057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50791"/>
            <a:ext cx="4800600" cy="1728216"/>
          </a:xfrm>
          <a:prstGeom prst="rect">
            <a:avLst/>
          </a:prstGeom>
          <a:noFill/>
        </p:spPr>
        <p:txBody>
          <a:bodyPr wrap="square" tIns="0" bIns="0" lIns="0" rIns="0">
            <a:spAutoFit/>
          </a:bodyPr>
          <a:lstStyle/>
          <a:p>
            <a:pPr algn="r" rtl="1">
              <a:defRPr sz="1500" b="1">
                <a:solidFill>
                  <a:srgbClr val="0F172A"/>
                </a:solidFill>
                <a:latin typeface="Segoe UI"/>
              </a:defRPr>
            </a:pPr>
            <a:r>
              <a:t>[ محاكاة وتشخيص ]  محاكاة الامتحانات وتشخيص المستوى</a:t>
            </a:r>
          </a:p>
          <a:p>
            <a:pPr algn="r" rtl="1">
              <a:spcBef>
                <a:spcPts val="600"/>
              </a:spcBef>
              <a:defRPr sz="1150" b="0">
                <a:solidFill>
                  <a:srgbClr val="334155"/>
                </a:solidFill>
                <a:latin typeface="Segoe UI"/>
              </a:defRPr>
            </a:pPr>
            <a:r>
              <a:t>يتيح للطالب خوض تجربة امتحان سابق كامل بنظام المحاكاة، ويمنحه تقريراً فورياً بنقاط القوة والمواضيع التي تحتاج إلى تركيز ومراجعة.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7DD3FC"/>
                </a:solidFill>
                <a:latin typeface="Segoe UI"/>
              </a:defRPr>
            </a:pPr>
            <a:r>
              <a:t>[ الذكاء الاصطناعي الأكاديمي ]</a:t>
            </a:r>
          </a:p>
          <a:p>
            <a:pPr algn="r" rtl="1">
              <a:spcBef>
                <a:spcPts val="300"/>
              </a:spcBef>
              <a:defRPr sz="2600" b="1">
                <a:solidFill>
                  <a:srgbClr val="F1F5F9"/>
                </a:solidFill>
                <a:latin typeface="Segoe UI"/>
              </a:defRPr>
            </a:pPr>
            <a:r>
              <a:t>المساعد الأكاديمي الذكي «كيدي» — مرتبط بمناهج الكلية الفعلية</a:t>
            </a:r>
          </a:p>
        </p:txBody>
      </p:sp>
      <p:sp>
        <p:nvSpPr>
          <p:cNvPr id="5" name="TextBox 4"/>
          <p:cNvSpPr txBox="1"/>
          <p:nvPr/>
        </p:nvSpPr>
        <p:spPr>
          <a:xfrm>
            <a:off x="685800" y="1417320"/>
            <a:ext cx="10820095" cy="685800"/>
          </a:xfrm>
          <a:prstGeom prst="rect">
            <a:avLst/>
          </a:prstGeom>
          <a:noFill/>
        </p:spPr>
        <p:txBody>
          <a:bodyPr wrap="none">
            <a:spAutoFit/>
          </a:bodyPr>
          <a:lstStyle/>
          <a:p>
            <a:pPr algn="r" rtl="1">
              <a:defRPr sz="1450" b="0">
                <a:solidFill>
                  <a:srgbClr val="7DD3FC"/>
                </a:solidFill>
                <a:latin typeface="Segoe UI"/>
              </a:defRPr>
            </a:pPr>
            <a:r>
              <a:t>ليس مجرد روبوت محادثة عام: يقرأ كيدي ملفات ومحاضرات المواد الفعلية المرفوعة في النظام، ويجيب الطلاب بدقة من صلب المنهج الدراسي المعتمد للكلية.</a:t>
            </a:r>
          </a:p>
        </p:txBody>
      </p:sp>
      <p:sp>
        <p:nvSpPr>
          <p:cNvPr id="6" name="Rectangle 5"/>
          <p:cNvSpPr/>
          <p:nvPr/>
        </p:nvSpPr>
        <p:spPr>
          <a:xfrm>
            <a:off x="685800" y="2240280"/>
            <a:ext cx="5257800" cy="160020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88736" y="2240280"/>
            <a:ext cx="54864"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04872"/>
            <a:ext cx="4800600" cy="1271016"/>
          </a:xfrm>
          <a:prstGeom prst="rect">
            <a:avLst/>
          </a:prstGeom>
          <a:noFill/>
        </p:spPr>
        <p:txBody>
          <a:bodyPr wrap="square" tIns="0" bIns="0" lIns="0" rIns="0">
            <a:spAutoFit/>
          </a:bodyPr>
          <a:lstStyle/>
          <a:p>
            <a:pPr algn="r" rtl="1">
              <a:defRPr sz="1500" b="1">
                <a:solidFill>
                  <a:srgbClr val="F1F5F9"/>
                </a:solidFill>
                <a:latin typeface="Segoe UI"/>
              </a:defRPr>
            </a:pPr>
            <a:r>
              <a:t>[ ميزة 01 ]  التلخيص والشرح التفاعلي</a:t>
            </a:r>
          </a:p>
          <a:p>
            <a:pPr algn="r" rtl="1">
              <a:spcBef>
                <a:spcPts val="600"/>
              </a:spcBef>
              <a:defRPr sz="1150" b="0">
                <a:solidFill>
                  <a:srgbClr val="7DD3FC"/>
                </a:solidFill>
                <a:latin typeface="Segoe UI"/>
              </a:defRPr>
            </a:pPr>
            <a:r>
              <a:t>تلخيص المحاضرات الطويلة واستخراج النقاط المفتاحية وتبسيط المفاهيم المعقدة باللغة المناسبة للطالب.</a:t>
            </a:r>
          </a:p>
        </p:txBody>
      </p:sp>
      <p:sp>
        <p:nvSpPr>
          <p:cNvPr id="9" name="Rectangle 8"/>
          <p:cNvSpPr/>
          <p:nvPr/>
        </p:nvSpPr>
        <p:spPr>
          <a:xfrm>
            <a:off x="6217920" y="2240280"/>
            <a:ext cx="5257800" cy="160020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20856" y="2240280"/>
            <a:ext cx="54864"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404872"/>
            <a:ext cx="4800600" cy="1271016"/>
          </a:xfrm>
          <a:prstGeom prst="rect">
            <a:avLst/>
          </a:prstGeom>
          <a:noFill/>
        </p:spPr>
        <p:txBody>
          <a:bodyPr wrap="square" tIns="0" bIns="0" lIns="0" rIns="0">
            <a:spAutoFit/>
          </a:bodyPr>
          <a:lstStyle/>
          <a:p>
            <a:pPr algn="r" rtl="1">
              <a:defRPr sz="1500" b="1">
                <a:solidFill>
                  <a:srgbClr val="F1F5F9"/>
                </a:solidFill>
                <a:latin typeface="Segoe UI"/>
              </a:defRPr>
            </a:pPr>
            <a:r>
              <a:t>[ ميزة 02 ]  توليد بطاقات الاستذكار (Flashcards)</a:t>
            </a:r>
          </a:p>
          <a:p>
            <a:pPr algn="r" rtl="1">
              <a:spcBef>
                <a:spcPts val="600"/>
              </a:spcBef>
              <a:defRPr sz="1150" b="0">
                <a:solidFill>
                  <a:srgbClr val="7DD3FC"/>
                </a:solidFill>
                <a:latin typeface="Segoe UI"/>
              </a:defRPr>
            </a:pPr>
            <a:r>
              <a:t>استخراج الأسئلة السريعة والإجابات من محتوى الشيتات وتحويلها إلى بطاقات مراجعة تفاعلية.</a:t>
            </a:r>
          </a:p>
        </p:txBody>
      </p:sp>
      <p:sp>
        <p:nvSpPr>
          <p:cNvPr id="12" name="Rectangle 11"/>
          <p:cNvSpPr/>
          <p:nvPr/>
        </p:nvSpPr>
        <p:spPr>
          <a:xfrm>
            <a:off x="685800" y="4023360"/>
            <a:ext cx="5257800" cy="160020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88736" y="4023360"/>
            <a:ext cx="54864"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187952"/>
            <a:ext cx="4800600" cy="1271016"/>
          </a:xfrm>
          <a:prstGeom prst="rect">
            <a:avLst/>
          </a:prstGeom>
          <a:noFill/>
        </p:spPr>
        <p:txBody>
          <a:bodyPr wrap="square" tIns="0" bIns="0" lIns="0" rIns="0">
            <a:spAutoFit/>
          </a:bodyPr>
          <a:lstStyle/>
          <a:p>
            <a:pPr algn="r" rtl="1">
              <a:defRPr sz="1500" b="1">
                <a:solidFill>
                  <a:srgbClr val="F1F5F9"/>
                </a:solidFill>
                <a:latin typeface="Segoe UI"/>
              </a:defRPr>
            </a:pPr>
            <a:r>
              <a:t>[ ميزة 03 ]  بناء اختبارات تدريبية تجريبية</a:t>
            </a:r>
          </a:p>
          <a:p>
            <a:pPr algn="r" rtl="1">
              <a:spcBef>
                <a:spcPts val="600"/>
              </a:spcBef>
              <a:defRPr sz="1150" b="0">
                <a:solidFill>
                  <a:srgbClr val="7DD3FC"/>
                </a:solidFill>
                <a:latin typeface="Segoe UI"/>
              </a:defRPr>
            </a:pPr>
            <a:r>
              <a:t>توليد أسئلة امتحانية متوقعة ومتنوعة الصعوبة بناءً على ما تم شرحه في المحاضرات للمراجعة الذاتية.</a:t>
            </a:r>
          </a:p>
        </p:txBody>
      </p:sp>
      <p:sp>
        <p:nvSpPr>
          <p:cNvPr id="15" name="Rectangle 14"/>
          <p:cNvSpPr/>
          <p:nvPr/>
        </p:nvSpPr>
        <p:spPr>
          <a:xfrm>
            <a:off x="6217920" y="4023360"/>
            <a:ext cx="5257800" cy="160020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20856" y="4023360"/>
            <a:ext cx="54864"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187952"/>
            <a:ext cx="4800600" cy="1271016"/>
          </a:xfrm>
          <a:prstGeom prst="rect">
            <a:avLst/>
          </a:prstGeom>
          <a:noFill/>
        </p:spPr>
        <p:txBody>
          <a:bodyPr wrap="square" tIns="0" bIns="0" lIns="0" rIns="0">
            <a:spAutoFit/>
          </a:bodyPr>
          <a:lstStyle/>
          <a:p>
            <a:pPr algn="r" rtl="1">
              <a:defRPr sz="1500" b="1">
                <a:solidFill>
                  <a:srgbClr val="F1F5F9"/>
                </a:solidFill>
                <a:latin typeface="Segoe UI"/>
              </a:defRPr>
            </a:pPr>
            <a:r>
              <a:t>[ ميزة 04 ]  مساعد تصحيح الأكواد البرمجية</a:t>
            </a:r>
          </a:p>
          <a:p>
            <a:pPr algn="r" rtl="1">
              <a:spcBef>
                <a:spcPts val="600"/>
              </a:spcBef>
              <a:defRPr sz="1150" b="0">
                <a:solidFill>
                  <a:srgbClr val="7DD3FC"/>
                </a:solidFill>
                <a:latin typeface="Segoe UI"/>
              </a:defRPr>
            </a:pPr>
            <a:r>
              <a:t>شرح رسائل الخطأ البرمجية وتقديم توجيهات وحلول لطلاب تقنية المعلومات مع الحفاظ على الأمان الأكاديمي.</a:t>
            </a:r>
          </a:p>
        </p:txBody>
      </p:sp>
      <p:sp>
        <p:nvSpPr>
          <p:cNvPr id="18" name="TextBox 17"/>
          <p:cNvSpPr txBox="1"/>
          <p:nvPr/>
        </p:nvSpPr>
        <p:spPr>
          <a:xfrm>
            <a:off x="685800" y="6035040"/>
            <a:ext cx="10820095" cy="365760"/>
          </a:xfrm>
          <a:prstGeom prst="rect">
            <a:avLst/>
          </a:prstGeom>
          <a:noFill/>
        </p:spPr>
        <p:txBody>
          <a:bodyPr wrap="none">
            <a:spAutoFit/>
          </a:bodyPr>
          <a:lstStyle/>
          <a:p>
            <a:pPr algn="r" rtl="1">
              <a:defRPr sz="1250" b="0">
                <a:solidFill>
                  <a:srgbClr val="7DD3FC"/>
                </a:solidFill>
                <a:latin typeface="Segoe UI"/>
              </a:defRPr>
            </a:pPr>
            <a:r>
              <a:t>موثوقية تشغيلية وتكلفة صفرية: يعمل النظام بالتناوب الذكي التلقائي بين 4 مزودين عالميين (Gemini · Qwen · Cohere · Groq).</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أدوات الطلاب ]</a:t>
            </a:r>
          </a:p>
          <a:p>
            <a:pPr algn="r" rtl="1">
              <a:spcBef>
                <a:spcPts val="300"/>
              </a:spcBef>
              <a:defRPr sz="2600" b="1">
                <a:solidFill>
                  <a:srgbClr val="0F172A"/>
                </a:solidFill>
                <a:latin typeface="Segoe UI"/>
              </a:defRPr>
            </a:pPr>
            <a:r>
              <a:t>بيئة تعليمية متكاملة تدعم الطالب داخل وخارج القاعة الدراسية</a:t>
            </a:r>
          </a:p>
        </p:txBody>
      </p:sp>
      <p:sp>
        <p:nvSpPr>
          <p:cNvPr id="5" name="Rectangle 4"/>
          <p:cNvSpPr/>
          <p:nvPr/>
        </p:nvSpPr>
        <p:spPr>
          <a:xfrm>
            <a:off x="685800" y="160020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05656" y="1600200"/>
            <a:ext cx="54864" cy="2057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مختبر برمجي ]  مختبر البرمجة السحابي (Code Lab)</a:t>
            </a:r>
          </a:p>
          <a:p>
            <a:pPr algn="r" rtl="1">
              <a:spcBef>
                <a:spcPts val="600"/>
              </a:spcBef>
              <a:defRPr sz="1150" b="0">
                <a:solidFill>
                  <a:srgbClr val="334155"/>
                </a:solidFill>
                <a:latin typeface="Segoe UI"/>
              </a:defRPr>
            </a:pPr>
            <a:r>
              <a:t>بيئة لكتابة وتنفيذ أكواد C++ وتشغيلها مباشرة من المتصفح أو الهاتف دون الحاجة لتثبيت برامج إضافية.</a:t>
            </a:r>
          </a:p>
        </p:txBody>
      </p:sp>
      <p:sp>
        <p:nvSpPr>
          <p:cNvPr id="8" name="Rectangle 7"/>
          <p:cNvSpPr/>
          <p:nvPr/>
        </p:nvSpPr>
        <p:spPr>
          <a:xfrm>
            <a:off x="4343400" y="160020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63256" y="1600200"/>
            <a:ext cx="54864" cy="20574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6479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مذاكرة جماعية ]  غرف المذاكرة الجماعية (Study Pods)</a:t>
            </a:r>
          </a:p>
          <a:p>
            <a:pPr algn="r" rtl="1">
              <a:spcBef>
                <a:spcPts val="600"/>
              </a:spcBef>
              <a:defRPr sz="1150" b="0">
                <a:solidFill>
                  <a:srgbClr val="334155"/>
                </a:solidFill>
                <a:latin typeface="Segoe UI"/>
              </a:defRPr>
            </a:pPr>
            <a:r>
              <a:t>غرف افتراضية لكل دفعة تتضمن مؤقت بومودورو للمذاكرة متزامن لحظياً بين الطلاب وقائمة مهام مشتركة.</a:t>
            </a:r>
          </a:p>
        </p:txBody>
      </p:sp>
      <p:sp>
        <p:nvSpPr>
          <p:cNvPr id="11" name="Rectangle 10"/>
          <p:cNvSpPr/>
          <p:nvPr/>
        </p:nvSpPr>
        <p:spPr>
          <a:xfrm>
            <a:off x="8001000" y="160020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1600200"/>
            <a:ext cx="54864" cy="2057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6479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بطاقات استذكار ]  بطاقات الاستذكار الرقمية</a:t>
            </a:r>
          </a:p>
          <a:p>
            <a:pPr algn="r" rtl="1">
              <a:spcBef>
                <a:spcPts val="600"/>
              </a:spcBef>
              <a:defRPr sz="1150" b="0">
                <a:solidFill>
                  <a:srgbClr val="334155"/>
                </a:solidFill>
                <a:latin typeface="Segoe UI"/>
              </a:defRPr>
            </a:pPr>
            <a:r>
              <a:t>أداة مراجعة سريعة للمصطلحات والمفاهيم تمكن الطالب من صناعة بطاقاته الخاصة أو توليدها آلياً.</a:t>
            </a:r>
          </a:p>
        </p:txBody>
      </p:sp>
      <p:sp>
        <p:nvSpPr>
          <p:cNvPr id="14" name="Rectangle 13"/>
          <p:cNvSpPr/>
          <p:nvPr/>
        </p:nvSpPr>
        <p:spPr>
          <a:xfrm>
            <a:off x="685800" y="384048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05656" y="3840480"/>
            <a:ext cx="54864" cy="2057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0507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لوحة الشرف ]  لوحة المتصدرين والتحفيز</a:t>
            </a:r>
          </a:p>
          <a:p>
            <a:pPr algn="r" rtl="1">
              <a:spcBef>
                <a:spcPts val="600"/>
              </a:spcBef>
              <a:defRPr sz="1150" b="0">
                <a:solidFill>
                  <a:srgbClr val="334155"/>
                </a:solidFill>
                <a:latin typeface="Segoe UI"/>
              </a:defRPr>
            </a:pPr>
            <a:r>
              <a:t>نظام نقاط ومكافآت على تسليم الواجبات والتفوق في الاختبارات لخلق بيئة تنافسية إيجابية ومحفزة.</a:t>
            </a:r>
          </a:p>
        </p:txBody>
      </p:sp>
      <p:sp>
        <p:nvSpPr>
          <p:cNvPr id="17" name="Rectangle 16"/>
          <p:cNvSpPr/>
          <p:nvPr/>
        </p:nvSpPr>
        <p:spPr>
          <a:xfrm>
            <a:off x="4343400" y="384048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63256" y="3840480"/>
            <a:ext cx="54864" cy="20574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00507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سجل موثق ]  السجل الأكاديمي الرقمي الموثق</a:t>
            </a:r>
          </a:p>
          <a:p>
            <a:pPr algn="r" rtl="1">
              <a:spcBef>
                <a:spcPts val="600"/>
              </a:spcBef>
              <a:defRPr sz="1150" b="0">
                <a:solidFill>
                  <a:srgbClr val="334155"/>
                </a:solidFill>
                <a:latin typeface="Segoe UI"/>
              </a:defRPr>
            </a:pPr>
            <a:r>
              <a:t>سجل شامل بإنجازات الطالب ونسب الحضور والدرجات مع رمز تحقق وبصمة أمان إلكترونية.</a:t>
            </a:r>
          </a:p>
        </p:txBody>
      </p:sp>
      <p:sp>
        <p:nvSpPr>
          <p:cNvPr id="20" name="Rectangle 19"/>
          <p:cNvSpPr/>
          <p:nvPr/>
        </p:nvSpPr>
        <p:spPr>
          <a:xfrm>
            <a:off x="8001000" y="384048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20856" y="3840480"/>
            <a:ext cx="54864" cy="20574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00507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استبيان جودة ]  استبيانات جودة المقررات</a:t>
            </a:r>
          </a:p>
          <a:p>
            <a:pPr algn="r" rtl="1">
              <a:spcBef>
                <a:spcPts val="600"/>
              </a:spcBef>
              <a:defRPr sz="1150" b="0">
                <a:solidFill>
                  <a:srgbClr val="334155"/>
                </a:solidFill>
                <a:latin typeface="Segoe UI"/>
              </a:defRPr>
            </a:pPr>
            <a:r>
              <a:t>تقييم فصلي مجهول الهوية يقيس رضا الطلاب عن المقررات والأداء الأكاديمي لضمان الجودة.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الوحدة المالية ]</a:t>
            </a:r>
          </a:p>
          <a:p>
            <a:pPr algn="r" rtl="1">
              <a:spcBef>
                <a:spcPts val="300"/>
              </a:spcBef>
              <a:defRPr sz="2600" b="1">
                <a:solidFill>
                  <a:srgbClr val="0F172A"/>
                </a:solidFill>
                <a:latin typeface="Segoe UI"/>
              </a:defRPr>
            </a:pPr>
            <a:r>
              <a:t>إدارة الرسوم الدراسية وعمليات السداد بأعلى معايير الدقة</a:t>
            </a:r>
          </a:p>
        </p:txBody>
      </p:sp>
      <p:sp>
        <p:nvSpPr>
          <p:cNvPr id="5" name="Rectangle 4"/>
          <p:cNvSpPr/>
          <p:nvPr/>
        </p:nvSpPr>
        <p:spPr>
          <a:xfrm>
            <a:off x="685800" y="1600200"/>
            <a:ext cx="347472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05656" y="1600200"/>
            <a:ext cx="54864" cy="219456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3017520" cy="1865376"/>
          </a:xfrm>
          <a:prstGeom prst="rect">
            <a:avLst/>
          </a:prstGeom>
          <a:noFill/>
        </p:spPr>
        <p:txBody>
          <a:bodyPr wrap="square" tIns="0" bIns="0" lIns="0" rIns="0">
            <a:spAutoFit/>
          </a:bodyPr>
          <a:lstStyle/>
          <a:p>
            <a:pPr algn="r" rtl="1">
              <a:defRPr sz="1500" b="1">
                <a:solidFill>
                  <a:srgbClr val="0F172A"/>
                </a:solidFill>
                <a:latin typeface="Segoe UI"/>
              </a:defRPr>
            </a:pPr>
            <a:r>
              <a:t>[ تحديد الرسوم ]  إسناد الرسوم والخصومات</a:t>
            </a:r>
          </a:p>
          <a:p>
            <a:pPr algn="r" rtl="1">
              <a:spcBef>
                <a:spcPts val="600"/>
              </a:spcBef>
              <a:defRPr sz="1150" b="0">
                <a:solidFill>
                  <a:srgbClr val="334155"/>
                </a:solidFill>
                <a:latin typeface="Segoe UI"/>
              </a:defRPr>
            </a:pPr>
            <a:r>
              <a:t>إمكانية إضافة الرسوم لطالب محدد أو للدفعة بالكامل، مع تحديد مواعيد الاستحقاق وتطبيق المنح والخصومات المعتمدة وإشعار الطالب فوراً.</a:t>
            </a:r>
          </a:p>
        </p:txBody>
      </p:sp>
      <p:sp>
        <p:nvSpPr>
          <p:cNvPr id="8" name="Rectangle 7"/>
          <p:cNvSpPr/>
          <p:nvPr/>
        </p:nvSpPr>
        <p:spPr>
          <a:xfrm>
            <a:off x="4343400" y="1600200"/>
            <a:ext cx="347472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63256" y="1600200"/>
            <a:ext cx="54864" cy="21945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64792"/>
            <a:ext cx="3017520" cy="1865376"/>
          </a:xfrm>
          <a:prstGeom prst="rect">
            <a:avLst/>
          </a:prstGeom>
          <a:noFill/>
        </p:spPr>
        <p:txBody>
          <a:bodyPr wrap="square" tIns="0" bIns="0" lIns="0" rIns="0">
            <a:spAutoFit/>
          </a:bodyPr>
          <a:lstStyle/>
          <a:p>
            <a:pPr algn="r" rtl="1">
              <a:defRPr sz="1500" b="1">
                <a:solidFill>
                  <a:srgbClr val="0F172A"/>
                </a:solidFill>
                <a:latin typeface="Segoe UI"/>
              </a:defRPr>
            </a:pPr>
            <a:r>
              <a:t>[ تخصيص آلي ]  التخصيص التلقائي (FIFO)</a:t>
            </a:r>
          </a:p>
          <a:p>
            <a:pPr algn="r" rtl="1">
              <a:spcBef>
                <a:spcPts val="600"/>
              </a:spcBef>
              <a:defRPr sz="1150" b="0">
                <a:solidFill>
                  <a:srgbClr val="334155"/>
                </a:solidFill>
                <a:latin typeface="Segoe UI"/>
              </a:defRPr>
            </a:pPr>
            <a:r>
              <a:t>تخصيص أي دفعة تسديد تلقائياً لأقدم رسم مستحق داخل معاملة واحدة (Transaction) تضمن استحالة حدوث أي خطأ أو تضارب محاسبي.</a:t>
            </a:r>
          </a:p>
        </p:txBody>
      </p:sp>
      <p:sp>
        <p:nvSpPr>
          <p:cNvPr id="11" name="Rectangle 10"/>
          <p:cNvSpPr/>
          <p:nvPr/>
        </p:nvSpPr>
        <p:spPr>
          <a:xfrm>
            <a:off x="8001000" y="1600200"/>
            <a:ext cx="347472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1600200"/>
            <a:ext cx="54864" cy="21945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64792"/>
            <a:ext cx="3017520" cy="1865376"/>
          </a:xfrm>
          <a:prstGeom prst="rect">
            <a:avLst/>
          </a:prstGeom>
          <a:noFill/>
        </p:spPr>
        <p:txBody>
          <a:bodyPr wrap="square" tIns="0" bIns="0" lIns="0" rIns="0">
            <a:spAutoFit/>
          </a:bodyPr>
          <a:lstStyle/>
          <a:p>
            <a:pPr algn="r" rtl="1">
              <a:defRPr sz="1500" b="1">
                <a:solidFill>
                  <a:srgbClr val="0F172A"/>
                </a:solidFill>
                <a:latin typeface="Segoe UI"/>
              </a:defRPr>
            </a:pPr>
            <a:r>
              <a:t>[ تدقيق الإيصالات ]  رفع ومراجعة الإيصالات</a:t>
            </a:r>
          </a:p>
          <a:p>
            <a:pPr algn="r" rtl="1">
              <a:spcBef>
                <a:spcPts val="600"/>
              </a:spcBef>
              <a:defRPr sz="1150" b="0">
                <a:solidFill>
                  <a:srgbClr val="334155"/>
                </a:solidFill>
                <a:latin typeface="Segoe UI"/>
              </a:defRPr>
            </a:pPr>
            <a:r>
              <a:t>يرفع الطالب صورة إشعار التحويل البنكي عبر هاتفه، وتتولى الإدارة المالية فحص الطلب والموافقة عليه أو رفضه مع إبداء السبب.</a:t>
            </a:r>
          </a:p>
        </p:txBody>
      </p:sp>
      <p:sp>
        <p:nvSpPr>
          <p:cNvPr id="14" name="Rectangle 13"/>
          <p:cNvSpPr/>
          <p:nvPr/>
        </p:nvSpPr>
        <p:spPr>
          <a:xfrm>
            <a:off x="685800" y="4069080"/>
            <a:ext cx="1078992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4069080"/>
            <a:ext cx="54864" cy="2148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33672"/>
            <a:ext cx="10332720" cy="1819656"/>
          </a:xfrm>
          <a:prstGeom prst="rect">
            <a:avLst/>
          </a:prstGeom>
          <a:noFill/>
        </p:spPr>
        <p:txBody>
          <a:bodyPr wrap="square" tIns="0" bIns="0" lIns="0" rIns="0">
            <a:spAutoFit/>
          </a:bodyPr>
          <a:lstStyle/>
          <a:p>
            <a:pPr algn="r" rtl="1">
              <a:defRPr sz="1500" b="1">
                <a:solidFill>
                  <a:srgbClr val="0F172A"/>
                </a:solidFill>
                <a:latin typeface="Segoe UI"/>
              </a:defRPr>
            </a:pPr>
            <a:r>
              <a:t>[ تقارير مالية مركزية ]  لوحة متابعة الأرصدة والتقارير المالية المركزية</a:t>
            </a:r>
          </a:p>
          <a:p>
            <a:pPr algn="r" rtl="1">
              <a:spcBef>
                <a:spcPts val="600"/>
              </a:spcBef>
              <a:defRPr sz="1150" b="0">
                <a:solidFill>
                  <a:srgbClr val="334155"/>
                </a:solidFill>
                <a:latin typeface="Segoe UI"/>
              </a:defRPr>
            </a:pPr>
            <a:r>
              <a:t>عرض شامل لإجمالي الرسوم، المبالغ المسددة، والمتبقي لكل طالب، مع تقرير تفصيلي بالمتأخرات وإمكانية إرسال تذكيرات آلية للطلاب المتأخرين عن السداد. جميع الأرقام مترابطة من قاعدة بيانات واحدة.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التواصل والتنبيهات ]</a:t>
            </a:r>
          </a:p>
          <a:p>
            <a:pPr algn="r" rtl="1">
              <a:spcBef>
                <a:spcPts val="300"/>
              </a:spcBef>
              <a:defRPr sz="2600" b="1">
                <a:solidFill>
                  <a:srgbClr val="0F172A"/>
                </a:solidFill>
                <a:latin typeface="Segoe UI"/>
              </a:defRPr>
            </a:pPr>
            <a:r>
              <a:t>شبكة تواصل فورية وتنبيهات مخصصة تربط الكلية بطلابها</a:t>
            </a:r>
          </a:p>
        </p:txBody>
      </p:sp>
      <p:sp>
        <p:nvSpPr>
          <p:cNvPr id="5" name="Rectangle 4"/>
          <p:cNvSpPr/>
          <p:nvPr/>
        </p:nvSpPr>
        <p:spPr>
          <a:xfrm>
            <a:off x="685800" y="1600200"/>
            <a:ext cx="10789920" cy="868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420856" y="1600200"/>
            <a:ext cx="54864" cy="868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10332720" cy="539496"/>
          </a:xfrm>
          <a:prstGeom prst="rect">
            <a:avLst/>
          </a:prstGeom>
          <a:noFill/>
        </p:spPr>
        <p:txBody>
          <a:bodyPr wrap="square" tIns="0" bIns="0" lIns="0" rIns="0">
            <a:spAutoFit/>
          </a:bodyPr>
          <a:lstStyle/>
          <a:p>
            <a:pPr algn="r" rtl="1">
              <a:defRPr sz="1500" b="1">
                <a:solidFill>
                  <a:srgbClr val="0F172A"/>
                </a:solidFill>
                <a:latin typeface="Segoe UI"/>
              </a:defRPr>
            </a:pPr>
            <a:r>
              <a:t>[ إشعار فوري ]  إشعارات Push فورية على الهواتف</a:t>
            </a:r>
          </a:p>
          <a:p>
            <a:pPr algn="r" rtl="1">
              <a:spcBef>
                <a:spcPts val="600"/>
              </a:spcBef>
              <a:defRPr sz="1150" b="0">
                <a:solidFill>
                  <a:srgbClr val="334155"/>
                </a:solidFill>
                <a:latin typeface="Segoe UI"/>
              </a:defRPr>
            </a:pPr>
            <a:r>
              <a:t>تصل مباشرة إلى شاشة هاتف المستخدم كإشعار نظام حقيقي — عند رصد درجة، تنبيه غياب، أو إعلان عاجل.</a:t>
            </a:r>
          </a:p>
        </p:txBody>
      </p:sp>
      <p:sp>
        <p:nvSpPr>
          <p:cNvPr id="8" name="Rectangle 7"/>
          <p:cNvSpPr/>
          <p:nvPr/>
        </p:nvSpPr>
        <p:spPr>
          <a:xfrm>
            <a:off x="685800" y="2560320"/>
            <a:ext cx="10789920" cy="868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2560320"/>
            <a:ext cx="54864" cy="868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24912"/>
            <a:ext cx="10332720" cy="539496"/>
          </a:xfrm>
          <a:prstGeom prst="rect">
            <a:avLst/>
          </a:prstGeom>
          <a:noFill/>
        </p:spPr>
        <p:txBody>
          <a:bodyPr wrap="square" tIns="0" bIns="0" lIns="0" rIns="0">
            <a:spAutoFit/>
          </a:bodyPr>
          <a:lstStyle/>
          <a:p>
            <a:pPr algn="r" rtl="1">
              <a:defRPr sz="1500" b="1">
                <a:solidFill>
                  <a:srgbClr val="0F172A"/>
                </a:solidFill>
                <a:latin typeface="Segoe UI"/>
              </a:defRPr>
            </a:pPr>
            <a:r>
              <a:t>[ توجيه مستهدف ]  توجيه ذكي ومستهدف للإعلانات</a:t>
            </a:r>
          </a:p>
          <a:p>
            <a:pPr algn="r" rtl="1">
              <a:spcBef>
                <a:spcPts val="600"/>
              </a:spcBef>
              <a:defRPr sz="1150" b="0">
                <a:solidFill>
                  <a:srgbClr val="334155"/>
                </a:solidFill>
                <a:latin typeface="Segoe UI"/>
              </a:defRPr>
            </a:pPr>
            <a:r>
              <a:t>إمكانية إرسال الإشعار لدفعة محددة، أو تخصص معين، أو طالب بعينه دون إزعاج باقي المستخدمين.</a:t>
            </a:r>
          </a:p>
        </p:txBody>
      </p:sp>
      <p:sp>
        <p:nvSpPr>
          <p:cNvPr id="11" name="Rectangle 10"/>
          <p:cNvSpPr/>
          <p:nvPr/>
        </p:nvSpPr>
        <p:spPr>
          <a:xfrm>
            <a:off x="685800" y="3520440"/>
            <a:ext cx="10789920" cy="868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3520440"/>
            <a:ext cx="54864"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85032"/>
            <a:ext cx="10332720" cy="539496"/>
          </a:xfrm>
          <a:prstGeom prst="rect">
            <a:avLst/>
          </a:prstGeom>
          <a:noFill/>
        </p:spPr>
        <p:txBody>
          <a:bodyPr wrap="square" tIns="0" bIns="0" lIns="0" rIns="0">
            <a:spAutoFit/>
          </a:bodyPr>
          <a:lstStyle/>
          <a:p>
            <a:pPr algn="r" rtl="1">
              <a:defRPr sz="1500" b="1">
                <a:solidFill>
                  <a:srgbClr val="0F172A"/>
                </a:solidFill>
                <a:latin typeface="Segoe UI"/>
              </a:defRPr>
            </a:pPr>
            <a:r>
              <a:t>[ تقويم موحد ]  التقويم الأكاديمي الشامل</a:t>
            </a:r>
          </a:p>
          <a:p>
            <a:pPr algn="r" rtl="1">
              <a:spcBef>
                <a:spcPts val="600"/>
              </a:spcBef>
              <a:defRPr sz="1150" b="0">
                <a:solidFill>
                  <a:srgbClr val="334155"/>
                </a:solidFill>
                <a:latin typeface="Segoe UI"/>
              </a:defRPr>
            </a:pPr>
            <a:r>
              <a:t>تقويم موحد يعرض مواعيد الامتحانات، تسليم التكليفات، الفعاليات والعطلات الرسمية للكلية.</a:t>
            </a:r>
          </a:p>
        </p:txBody>
      </p:sp>
      <p:sp>
        <p:nvSpPr>
          <p:cNvPr id="14" name="Rectangle 13"/>
          <p:cNvSpPr/>
          <p:nvPr/>
        </p:nvSpPr>
        <p:spPr>
          <a:xfrm>
            <a:off x="685800" y="4480560"/>
            <a:ext cx="10789920" cy="8686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4480560"/>
            <a:ext cx="54864"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45152"/>
            <a:ext cx="10332720" cy="539496"/>
          </a:xfrm>
          <a:prstGeom prst="rect">
            <a:avLst/>
          </a:prstGeom>
          <a:noFill/>
        </p:spPr>
        <p:txBody>
          <a:bodyPr wrap="square" tIns="0" bIns="0" lIns="0" rIns="0">
            <a:spAutoFit/>
          </a:bodyPr>
          <a:lstStyle/>
          <a:p>
            <a:pPr algn="r" rtl="1">
              <a:defRPr sz="1500" b="1">
                <a:solidFill>
                  <a:srgbClr val="0F172A"/>
                </a:solidFill>
                <a:latin typeface="Segoe UI"/>
              </a:defRPr>
            </a:pPr>
            <a:r>
              <a:t>[ استفسار موقوت ]  طرح الأسئلة المباشرة على الفيديو</a:t>
            </a:r>
          </a:p>
          <a:p>
            <a:pPr algn="r" rtl="1">
              <a:spcBef>
                <a:spcPts val="600"/>
              </a:spcBef>
              <a:defRPr sz="1150" b="0">
                <a:solidFill>
                  <a:srgbClr val="334155"/>
                </a:solidFill>
                <a:latin typeface="Segoe UI"/>
              </a:defRPr>
            </a:pPr>
            <a:r>
              <a:t>يتيح للطالب كتابة استفساره عند دقيقة محددة من المحاضرة المسجلة ليجيب عليه الأستاذ في سياق الشرح.</a:t>
            </a:r>
          </a:p>
        </p:txBody>
      </p:sp>
      <p:sp>
        <p:nvSpPr>
          <p:cNvPr id="17" name="Rectangle 16"/>
          <p:cNvSpPr/>
          <p:nvPr/>
        </p:nvSpPr>
        <p:spPr>
          <a:xfrm>
            <a:off x="685800" y="5669280"/>
            <a:ext cx="10789920" cy="685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20856" y="5669280"/>
            <a:ext cx="54864" cy="6858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33872"/>
            <a:ext cx="10332720" cy="356616"/>
          </a:xfrm>
          <a:prstGeom prst="rect">
            <a:avLst/>
          </a:prstGeom>
          <a:noFill/>
        </p:spPr>
        <p:txBody>
          <a:bodyPr wrap="square" tIns="0" bIns="0" lIns="0" rIns="0">
            <a:spAutoFit/>
          </a:bodyPr>
          <a:lstStyle/>
          <a:p>
            <a:pPr algn="r" rtl="1">
              <a:defRPr sz="1500" b="1">
                <a:solidFill>
                  <a:srgbClr val="0F172A"/>
                </a:solidFill>
                <a:latin typeface="Segoe UI"/>
              </a:defRPr>
            </a:pPr>
            <a:r>
              <a:t>[ حماية المجتمع ]  نظام متكامل للإبلاغ عن المحتوى المسيء وحظر المخالفين مع التزام المراجعة خلال 24 ساعة (متطلب رسمي للمتاجر)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الأمان والحوكمة ]</a:t>
            </a:r>
          </a:p>
          <a:p>
            <a:pPr algn="r" rtl="1">
              <a:spcBef>
                <a:spcPts val="300"/>
              </a:spcBef>
              <a:defRPr sz="2600" b="1">
                <a:solidFill>
                  <a:srgbClr val="0F172A"/>
                </a:solidFill>
                <a:latin typeface="Segoe UI"/>
              </a:defRPr>
            </a:pPr>
            <a:r>
              <a:t>أعلى معايير الحماية والتشفير والامتثال لمعايير الخصوصية</a:t>
            </a:r>
          </a:p>
        </p:txBody>
      </p:sp>
      <p:sp>
        <p:nvSpPr>
          <p:cNvPr id="5" name="Rectangle 4"/>
          <p:cNvSpPr/>
          <p:nvPr/>
        </p:nvSpPr>
        <p:spPr>
          <a:xfrm>
            <a:off x="685800" y="160020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05656" y="1600200"/>
            <a:ext cx="54864" cy="20574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تشفير bcrypt ]  تشفير كلمات المرور المتقدم</a:t>
            </a:r>
          </a:p>
          <a:p>
            <a:pPr algn="r" rtl="1">
              <a:spcBef>
                <a:spcPts val="600"/>
              </a:spcBef>
              <a:defRPr sz="1150" b="0">
                <a:solidFill>
                  <a:srgbClr val="334155"/>
                </a:solidFill>
                <a:latin typeface="Segoe UI"/>
              </a:defRPr>
            </a:pPr>
            <a:r>
              <a:t>تشفير كامل غير قابل للعكس باستخدام bcrypt مع فرض تغيير كلمة المرور الافتراضية عند أول تسجيل دخول.</a:t>
            </a:r>
          </a:p>
        </p:txBody>
      </p:sp>
      <p:sp>
        <p:nvSpPr>
          <p:cNvPr id="8" name="Rectangle 7"/>
          <p:cNvSpPr/>
          <p:nvPr/>
        </p:nvSpPr>
        <p:spPr>
          <a:xfrm>
            <a:off x="4343400" y="160020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63256" y="1600200"/>
            <a:ext cx="54864" cy="2057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6479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دخول حيوي ]  الدخول الحيوي بالبصمة والوجه</a:t>
            </a:r>
          </a:p>
          <a:p>
            <a:pPr algn="r" rtl="1">
              <a:spcBef>
                <a:spcPts val="600"/>
              </a:spcBef>
              <a:defRPr sz="1150" b="0">
                <a:solidFill>
                  <a:srgbClr val="334155"/>
                </a:solidFill>
                <a:latin typeface="Segoe UI"/>
              </a:defRPr>
            </a:pPr>
            <a:r>
              <a:t>دعم مصادقة Passkeys والبصمة عبر أجهزة الهواتف لتسهيل الوصول الآمن دون كتابة كلمة المرور.</a:t>
            </a:r>
          </a:p>
        </p:txBody>
      </p:sp>
      <p:sp>
        <p:nvSpPr>
          <p:cNvPr id="11" name="Rectangle 10"/>
          <p:cNvSpPr/>
          <p:nvPr/>
        </p:nvSpPr>
        <p:spPr>
          <a:xfrm>
            <a:off x="8001000" y="160020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1600200"/>
            <a:ext cx="54864" cy="20574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6479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جلسة واحدة ]  إدارة الجلسات ومنع الازدواج</a:t>
            </a:r>
          </a:p>
          <a:p>
            <a:pPr algn="r" rtl="1">
              <a:spcBef>
                <a:spcPts val="600"/>
              </a:spcBef>
              <a:defRPr sz="1150" b="0">
                <a:solidFill>
                  <a:srgbClr val="334155"/>
                </a:solidFill>
                <a:latin typeface="Segoe UI"/>
              </a:defRPr>
            </a:pPr>
            <a:r>
              <a:t>حصر الحساب في جلسة دخول نشطة واحدة، حيث يؤدي تسجيل الدخول من جهاز جديد لإنهاء الجلسة السابقة.</a:t>
            </a:r>
          </a:p>
        </p:txBody>
      </p:sp>
      <p:sp>
        <p:nvSpPr>
          <p:cNvPr id="14" name="Rectangle 13"/>
          <p:cNvSpPr/>
          <p:nvPr/>
        </p:nvSpPr>
        <p:spPr>
          <a:xfrm>
            <a:off x="685800" y="384048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05656" y="3840480"/>
            <a:ext cx="54864" cy="2057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0507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عزل برمجي ]  عزل البيانات على مستوى الخادم</a:t>
            </a:r>
          </a:p>
          <a:p>
            <a:pPr algn="r" rtl="1">
              <a:spcBef>
                <a:spcPts val="600"/>
              </a:spcBef>
              <a:defRPr sz="1150" b="0">
                <a:solidFill>
                  <a:srgbClr val="334155"/>
                </a:solidFill>
                <a:latin typeface="Segoe UI"/>
              </a:defRPr>
            </a:pPr>
            <a:r>
              <a:t>ضمان برمجي يمنع أي مستخدم من الوصول لبيانات أو تقارير دفعة أخرى حتى في حال محاولة التلاعب بالروابط.</a:t>
            </a:r>
          </a:p>
        </p:txBody>
      </p:sp>
      <p:sp>
        <p:nvSpPr>
          <p:cNvPr id="17" name="Rectangle 16"/>
          <p:cNvSpPr/>
          <p:nvPr/>
        </p:nvSpPr>
        <p:spPr>
          <a:xfrm>
            <a:off x="4343400" y="384048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63256" y="3840480"/>
            <a:ext cx="54864" cy="2057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00507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ملفات محمية ]  حماية الملفات والمستندات الحساسة</a:t>
            </a:r>
          </a:p>
          <a:p>
            <a:pPr algn="r" rtl="1">
              <a:spcBef>
                <a:spcPts val="600"/>
              </a:spcBef>
              <a:defRPr sz="1150" b="0">
                <a:solidFill>
                  <a:srgbClr val="334155"/>
                </a:solidFill>
                <a:latin typeface="Segoe UI"/>
              </a:defRPr>
            </a:pPr>
            <a:r>
              <a:t>ملفات تسليم الواجبات وإيصالات السداد المالية مشفرة ومحمية ولا تفتح إلا للمصرح لهم فقط.</a:t>
            </a:r>
          </a:p>
        </p:txBody>
      </p:sp>
      <p:sp>
        <p:nvSpPr>
          <p:cNvPr id="20" name="Rectangle 19"/>
          <p:cNvSpPr/>
          <p:nvPr/>
        </p:nvSpPr>
        <p:spPr>
          <a:xfrm>
            <a:off x="8001000" y="3840480"/>
            <a:ext cx="347472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20856" y="3840480"/>
            <a:ext cx="54864" cy="2057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005072"/>
            <a:ext cx="3017520" cy="1728216"/>
          </a:xfrm>
          <a:prstGeom prst="rect">
            <a:avLst/>
          </a:prstGeom>
          <a:noFill/>
        </p:spPr>
        <p:txBody>
          <a:bodyPr wrap="square" tIns="0" bIns="0" lIns="0" rIns="0">
            <a:spAutoFit/>
          </a:bodyPr>
          <a:lstStyle/>
          <a:p>
            <a:pPr algn="r" rtl="1">
              <a:defRPr sz="1500" b="1">
                <a:solidFill>
                  <a:srgbClr val="0F172A"/>
                </a:solidFill>
                <a:latin typeface="Segoe UI"/>
              </a:defRPr>
            </a:pPr>
            <a:r>
              <a:t>[ خصوصية وبيانات ]  حذف الحساب والبيانات الذاتي</a:t>
            </a:r>
          </a:p>
          <a:p>
            <a:pPr algn="r" rtl="1">
              <a:spcBef>
                <a:spcPts val="600"/>
              </a:spcBef>
              <a:defRPr sz="1150" b="0">
                <a:solidFill>
                  <a:srgbClr val="334155"/>
                </a:solidFill>
                <a:latin typeface="Segoe UI"/>
              </a:defRPr>
            </a:pPr>
            <a:r>
              <a:t>إتاحة خيار حذف الحساب والبيانات الشخصية للطالب من داخل التطبيق وفق اشتراطات الخصوصية الدولية.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1E40AF"/>
                </a:solidFill>
                <a:latin typeface="Segoe UI"/>
              </a:defRPr>
            </a:pPr>
            <a:r>
              <a:t>[ تطبيقات الهواتف ]</a:t>
            </a:r>
          </a:p>
          <a:p>
            <a:pPr algn="r" rtl="1">
              <a:spcBef>
                <a:spcPts val="300"/>
              </a:spcBef>
              <a:defRPr sz="2600" b="1">
                <a:solidFill>
                  <a:srgbClr val="0F172A"/>
                </a:solidFill>
                <a:latin typeface="Segoe UI"/>
              </a:defRPr>
            </a:pPr>
            <a:r>
              <a:t>تطبيقات أصلية للأندرويد والآيفون مع دعم العمل دون إنترنت</a:t>
            </a:r>
          </a:p>
        </p:txBody>
      </p:sp>
      <p:sp>
        <p:nvSpPr>
          <p:cNvPr id="5" name="Rectangle 4"/>
          <p:cNvSpPr/>
          <p:nvPr/>
        </p:nvSpPr>
        <p:spPr>
          <a:xfrm>
            <a:off x="685800" y="1600200"/>
            <a:ext cx="525780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600200"/>
            <a:ext cx="54864" cy="21945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4800600" cy="1865376"/>
          </a:xfrm>
          <a:prstGeom prst="rect">
            <a:avLst/>
          </a:prstGeom>
          <a:noFill/>
        </p:spPr>
        <p:txBody>
          <a:bodyPr wrap="square" tIns="0" bIns="0" lIns="0" rIns="0">
            <a:spAutoFit/>
          </a:bodyPr>
          <a:lstStyle/>
          <a:p>
            <a:pPr algn="r" rtl="1">
              <a:defRPr sz="1500" b="1">
                <a:solidFill>
                  <a:srgbClr val="0F172A"/>
                </a:solidFill>
                <a:latin typeface="Segoe UI"/>
              </a:defRPr>
            </a:pPr>
            <a:r>
              <a:t>[ منصة أندرويد ]  تطبيق الأندرويد (Android) — جاهز 100%</a:t>
            </a:r>
          </a:p>
          <a:p>
            <a:pPr algn="r" rtl="1">
              <a:spcBef>
                <a:spcPts val="600"/>
              </a:spcBef>
              <a:defRPr sz="1150" b="0">
                <a:solidFill>
                  <a:srgbClr val="334155"/>
                </a:solidFill>
                <a:latin typeface="Segoe UI"/>
              </a:defRPr>
            </a:pPr>
            <a:r>
              <a:t>التطبيق مبني ومختبر ويعمل بكفاءة عالية مع دعم الإشعارات اللحظية والدخول بالبصمة وإمكانية حفظ المحاضرات والملفات للعمل دون إنترنت.</a:t>
            </a:r>
          </a:p>
        </p:txBody>
      </p:sp>
      <p:sp>
        <p:nvSpPr>
          <p:cNvPr id="8" name="Rectangle 7"/>
          <p:cNvSpPr/>
          <p:nvPr/>
        </p:nvSpPr>
        <p:spPr>
          <a:xfrm>
            <a:off x="6217920" y="1600200"/>
            <a:ext cx="5257800" cy="2194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600200"/>
            <a:ext cx="54864" cy="21945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64792"/>
            <a:ext cx="4800600" cy="1865376"/>
          </a:xfrm>
          <a:prstGeom prst="rect">
            <a:avLst/>
          </a:prstGeom>
          <a:noFill/>
        </p:spPr>
        <p:txBody>
          <a:bodyPr wrap="square" tIns="0" bIns="0" lIns="0" rIns="0">
            <a:spAutoFit/>
          </a:bodyPr>
          <a:lstStyle/>
          <a:p>
            <a:pPr algn="r" rtl="1">
              <a:defRPr sz="1500" b="1">
                <a:solidFill>
                  <a:srgbClr val="0F172A"/>
                </a:solidFill>
                <a:latin typeface="Segoe UI"/>
              </a:defRPr>
            </a:pPr>
            <a:r>
              <a:t>[ منصة iOS ]  تطبيق الآيفون (iOS) — مبني ومهيأ عبر GitHub Actions</a:t>
            </a:r>
          </a:p>
          <a:p>
            <a:pPr algn="r" rtl="1">
              <a:spcBef>
                <a:spcPts val="600"/>
              </a:spcBef>
              <a:defRPr sz="1150" b="0">
                <a:solidFill>
                  <a:srgbClr val="334155"/>
                </a:solidFill>
                <a:latin typeface="Segoe UI"/>
              </a:defRPr>
            </a:pPr>
            <a:r>
              <a:t>تم إعداد وتجميع حزمة التطبيق (IPA) بنجاح عبر سحابة أبل على GitHub Actions، وهو مستوفٍ لكافة معايير وشروط متجر App Store.</a:t>
            </a:r>
          </a:p>
        </p:txBody>
      </p:sp>
      <p:sp>
        <p:nvSpPr>
          <p:cNvPr id="11" name="Rectangle 10"/>
          <p:cNvSpPr/>
          <p:nvPr/>
        </p:nvSpPr>
        <p:spPr>
          <a:xfrm>
            <a:off x="685800" y="4069080"/>
            <a:ext cx="347472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05656" y="4069080"/>
            <a:ext cx="54864" cy="21031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33672"/>
            <a:ext cx="3017520" cy="1773936"/>
          </a:xfrm>
          <a:prstGeom prst="rect">
            <a:avLst/>
          </a:prstGeom>
          <a:noFill/>
        </p:spPr>
        <p:txBody>
          <a:bodyPr wrap="square" tIns="0" bIns="0" lIns="0" rIns="0">
            <a:spAutoFit/>
          </a:bodyPr>
          <a:lstStyle/>
          <a:p>
            <a:pPr algn="r" rtl="1">
              <a:defRPr sz="1500" b="1">
                <a:solidFill>
                  <a:srgbClr val="0F172A"/>
                </a:solidFill>
                <a:latin typeface="Segoe UI"/>
              </a:defRPr>
            </a:pPr>
            <a:r>
              <a:t>[ ميزة الأوفلاين ]  العمل دون اتصال (Offline First)</a:t>
            </a:r>
          </a:p>
          <a:p>
            <a:pPr algn="r" rtl="1">
              <a:spcBef>
                <a:spcPts val="600"/>
              </a:spcBef>
              <a:defRPr sz="1150" b="0">
                <a:solidFill>
                  <a:srgbClr val="334155"/>
                </a:solidFill>
                <a:latin typeface="Segoe UI"/>
              </a:defRPr>
            </a:pPr>
            <a:r>
              <a:t>قراءة المحاضرات والشيتات المحفوظة مسبقاً وتصفح واجهات التطبيق في حال انقطاع شبكة الإنترنت.</a:t>
            </a:r>
          </a:p>
        </p:txBody>
      </p:sp>
      <p:sp>
        <p:nvSpPr>
          <p:cNvPr id="14" name="Rectangle 13"/>
          <p:cNvSpPr/>
          <p:nvPr/>
        </p:nvSpPr>
        <p:spPr>
          <a:xfrm>
            <a:off x="4343400" y="4069080"/>
            <a:ext cx="347472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63256" y="4069080"/>
            <a:ext cx="54864" cy="2103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233672"/>
            <a:ext cx="3017520" cy="1773936"/>
          </a:xfrm>
          <a:prstGeom prst="rect">
            <a:avLst/>
          </a:prstGeom>
          <a:noFill/>
        </p:spPr>
        <p:txBody>
          <a:bodyPr wrap="square" tIns="0" bIns="0" lIns="0" rIns="0">
            <a:spAutoFit/>
          </a:bodyPr>
          <a:lstStyle/>
          <a:p>
            <a:pPr algn="r" rtl="1">
              <a:defRPr sz="1500" b="1">
                <a:solidFill>
                  <a:srgbClr val="0F172A"/>
                </a:solidFill>
                <a:latin typeface="Segoe UI"/>
              </a:defRPr>
            </a:pPr>
            <a:r>
              <a:t>[ إشعارات Push ]  إشعارات النظام التفاعلية</a:t>
            </a:r>
          </a:p>
          <a:p>
            <a:pPr algn="r" rtl="1">
              <a:spcBef>
                <a:spcPts val="600"/>
              </a:spcBef>
              <a:defRPr sz="1150" b="0">
                <a:solidFill>
                  <a:srgbClr val="334155"/>
                </a:solidFill>
                <a:latin typeface="Segoe UI"/>
              </a:defRPr>
            </a:pPr>
            <a:r>
              <a:t>استقبال الإشعارات والتحذيرات الأكاديمية على الهاتف مباشرة حتى عندما يكون التطبيق مغلقاً بالكامل.</a:t>
            </a:r>
          </a:p>
        </p:txBody>
      </p:sp>
      <p:sp>
        <p:nvSpPr>
          <p:cNvPr id="17" name="Rectangle 16"/>
          <p:cNvSpPr/>
          <p:nvPr/>
        </p:nvSpPr>
        <p:spPr>
          <a:xfrm>
            <a:off x="8001000" y="4069080"/>
            <a:ext cx="347472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20856" y="4069080"/>
            <a:ext cx="54864" cy="2103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4233672"/>
            <a:ext cx="3017520" cy="1773936"/>
          </a:xfrm>
          <a:prstGeom prst="rect">
            <a:avLst/>
          </a:prstGeom>
          <a:noFill/>
        </p:spPr>
        <p:txBody>
          <a:bodyPr wrap="square" tIns="0" bIns="0" lIns="0" rIns="0">
            <a:spAutoFit/>
          </a:bodyPr>
          <a:lstStyle/>
          <a:p>
            <a:pPr algn="r" rtl="1">
              <a:defRPr sz="1500" b="1">
                <a:solidFill>
                  <a:srgbClr val="0F172A"/>
                </a:solidFill>
                <a:latin typeface="Segoe UI"/>
              </a:defRPr>
            </a:pPr>
            <a:r>
              <a:t>[ تصميم متجاوب ]  واجهة عربية متكيفة بالكامل</a:t>
            </a:r>
          </a:p>
          <a:p>
            <a:pPr algn="r" rtl="1">
              <a:spcBef>
                <a:spcPts val="600"/>
              </a:spcBef>
              <a:defRPr sz="1150" b="0">
                <a:solidFill>
                  <a:srgbClr val="334155"/>
                </a:solidFill>
                <a:latin typeface="Segoe UI"/>
              </a:defRPr>
            </a:pPr>
            <a:r>
              <a:t>تصميم متوافق مع كافة مقاسات الشاشات من الهواتف الصغيرة وحتى الأجهزة اللوحية مع دعم الوضع الليلي.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73152" cy="5943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150" b="1">
                <a:solidFill>
                  <a:srgbClr val="7DD3FC"/>
                </a:solidFill>
                <a:latin typeface="Segoe UI"/>
              </a:defRPr>
            </a:pPr>
            <a:r>
              <a:t>[ الخاتمة وخطة العمل ]</a:t>
            </a:r>
          </a:p>
          <a:p>
            <a:pPr algn="r" rtl="1">
              <a:spcBef>
                <a:spcPts val="300"/>
              </a:spcBef>
              <a:defRPr sz="2600" b="1">
                <a:solidFill>
                  <a:srgbClr val="F1F5F9"/>
                </a:solidFill>
                <a:latin typeface="Segoe UI"/>
              </a:defRPr>
            </a:pPr>
            <a:r>
              <a:t>المنصة جاهزة للتشغيل الكامل — التوصيات والقرارات المقترحة</a:t>
            </a:r>
          </a:p>
        </p:txBody>
      </p:sp>
      <p:sp>
        <p:nvSpPr>
          <p:cNvPr id="5" name="Rectangle 4"/>
          <p:cNvSpPr/>
          <p:nvPr/>
        </p:nvSpPr>
        <p:spPr>
          <a:xfrm>
            <a:off x="685800" y="1783080"/>
            <a:ext cx="5257800" cy="182880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783080"/>
            <a:ext cx="54864" cy="1828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4800600" cy="1499616"/>
          </a:xfrm>
          <a:prstGeom prst="rect">
            <a:avLst/>
          </a:prstGeom>
          <a:noFill/>
        </p:spPr>
        <p:txBody>
          <a:bodyPr wrap="square" tIns="0" bIns="0" lIns="0" rIns="0">
            <a:spAutoFit/>
          </a:bodyPr>
          <a:lstStyle/>
          <a:p>
            <a:pPr algn="r" rtl="1">
              <a:defRPr sz="1500" b="1">
                <a:solidFill>
                  <a:srgbClr val="F1F5F9"/>
                </a:solidFill>
                <a:latin typeface="Segoe UI"/>
              </a:defRPr>
            </a:pPr>
            <a:r>
              <a:t>[ القرار 01 ]  اعتماد التشغيل الرسمي للنظام</a:t>
            </a:r>
          </a:p>
          <a:p>
            <a:pPr algn="r" rtl="1">
              <a:spcBef>
                <a:spcPts val="600"/>
              </a:spcBef>
              <a:defRPr sz="1150" b="0">
                <a:solidFill>
                  <a:srgbClr val="7DD3FC"/>
                </a:solidFill>
                <a:latin typeface="Segoe UI"/>
              </a:defRPr>
            </a:pPr>
            <a:r>
              <a:t>إقرار المنصة كمرجع رسمي معتمد لرصد الحضور وتكليفات الواجبات والدرجات بدلاً من الطرق التقليدية لضمان التزام كافة الأطراف.</a:t>
            </a:r>
          </a:p>
        </p:txBody>
      </p:sp>
      <p:sp>
        <p:nvSpPr>
          <p:cNvPr id="8" name="Rectangle 7"/>
          <p:cNvSpPr/>
          <p:nvPr/>
        </p:nvSpPr>
        <p:spPr>
          <a:xfrm>
            <a:off x="6217920" y="1783080"/>
            <a:ext cx="5257800" cy="182880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783080"/>
            <a:ext cx="54864" cy="1828800"/>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47672"/>
            <a:ext cx="4800600" cy="1499616"/>
          </a:xfrm>
          <a:prstGeom prst="rect">
            <a:avLst/>
          </a:prstGeom>
          <a:noFill/>
        </p:spPr>
        <p:txBody>
          <a:bodyPr wrap="square" tIns="0" bIns="0" lIns="0" rIns="0">
            <a:spAutoFit/>
          </a:bodyPr>
          <a:lstStyle/>
          <a:p>
            <a:pPr algn="r" rtl="1">
              <a:defRPr sz="1500" b="1">
                <a:solidFill>
                  <a:srgbClr val="F1F5F9"/>
                </a:solidFill>
                <a:latin typeface="Segoe UI"/>
              </a:defRPr>
            </a:pPr>
            <a:r>
              <a:t>[ القرار 02 ]  ورشة تدريبية قصيرة للأساتذة</a:t>
            </a:r>
          </a:p>
          <a:p>
            <a:pPr algn="r" rtl="1">
              <a:spcBef>
                <a:spcPts val="600"/>
              </a:spcBef>
              <a:defRPr sz="1150" b="0">
                <a:solidFill>
                  <a:srgbClr val="7DD3FC"/>
                </a:solidFill>
                <a:latin typeface="Segoe UI"/>
              </a:defRPr>
            </a:pPr>
            <a:r>
              <a:t>تنظيم جلسة تعريفية عملية لأساتذة المواد لشرح آليات رفع المحاضرات وبنك الأسئلة ورصد الحضور والتقييم السريع.</a:t>
            </a:r>
          </a:p>
        </p:txBody>
      </p:sp>
      <p:sp>
        <p:nvSpPr>
          <p:cNvPr id="11" name="Rectangle 10"/>
          <p:cNvSpPr/>
          <p:nvPr/>
        </p:nvSpPr>
        <p:spPr>
          <a:xfrm>
            <a:off x="685800" y="3794760"/>
            <a:ext cx="5257800" cy="182880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88736" y="3794760"/>
            <a:ext cx="54864" cy="18288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59352"/>
            <a:ext cx="4800600" cy="1499616"/>
          </a:xfrm>
          <a:prstGeom prst="rect">
            <a:avLst/>
          </a:prstGeom>
          <a:noFill/>
        </p:spPr>
        <p:txBody>
          <a:bodyPr wrap="square" tIns="0" bIns="0" lIns="0" rIns="0">
            <a:spAutoFit/>
          </a:bodyPr>
          <a:lstStyle/>
          <a:p>
            <a:pPr algn="r" rtl="1">
              <a:defRPr sz="1500" b="1">
                <a:solidFill>
                  <a:srgbClr val="F1F5F9"/>
                </a:solidFill>
                <a:latin typeface="Segoe UI"/>
              </a:defRPr>
            </a:pPr>
            <a:r>
              <a:t>[ القرار 03 ]  توفير حساب مطور أبل (Apple Developer)</a:t>
            </a:r>
          </a:p>
          <a:p>
            <a:pPr algn="r" rtl="1">
              <a:spcBef>
                <a:spcPts val="600"/>
              </a:spcBef>
              <a:defRPr sz="1150" b="0">
                <a:solidFill>
                  <a:srgbClr val="7DD3FC"/>
                </a:solidFill>
                <a:latin typeface="Segoe UI"/>
              </a:defRPr>
            </a:pPr>
            <a:r>
              <a:t>اشتراك سنوي (99$) لنشر تطبيق الآيفون المكتمل رسمياً على متجر App Store وإتاحته لكافة طلاب الكلية.</a:t>
            </a:r>
          </a:p>
        </p:txBody>
      </p:sp>
      <p:sp>
        <p:nvSpPr>
          <p:cNvPr id="14" name="Rectangle 13"/>
          <p:cNvSpPr/>
          <p:nvPr/>
        </p:nvSpPr>
        <p:spPr>
          <a:xfrm>
            <a:off x="6217920" y="3794760"/>
            <a:ext cx="5257800" cy="1828800"/>
          </a:xfrm>
          <a:prstGeom prst="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3794760"/>
            <a:ext cx="54864" cy="18288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959352"/>
            <a:ext cx="4800600" cy="1499616"/>
          </a:xfrm>
          <a:prstGeom prst="rect">
            <a:avLst/>
          </a:prstGeom>
          <a:noFill/>
        </p:spPr>
        <p:txBody>
          <a:bodyPr wrap="square" tIns="0" bIns="0" lIns="0" rIns="0">
            <a:spAutoFit/>
          </a:bodyPr>
          <a:lstStyle/>
          <a:p>
            <a:pPr algn="r" rtl="1">
              <a:defRPr sz="1500" b="1">
                <a:solidFill>
                  <a:srgbClr val="F1F5F9"/>
                </a:solidFill>
                <a:latin typeface="Segoe UI"/>
              </a:defRPr>
            </a:pPr>
            <a:r>
              <a:t>[ القرار 04 ]  تعيين مسؤول مراجعة البلاغات</a:t>
            </a:r>
          </a:p>
          <a:p>
            <a:pPr algn="r" rtl="1">
              <a:spcBef>
                <a:spcPts val="600"/>
              </a:spcBef>
              <a:defRPr sz="1150" b="0">
                <a:solidFill>
                  <a:srgbClr val="7DD3FC"/>
                </a:solidFill>
                <a:latin typeface="Segoe UI"/>
              </a:defRPr>
            </a:pPr>
            <a:r>
              <a:t>تكليف موظف إداري بمتابعة بلاغات المحتوى لضمان الاستجابة السريعة خلال 24 ساعة كمتطلب استمرار في المتاجر.</a:t>
            </a:r>
          </a:p>
        </p:txBody>
      </p:sp>
      <p:sp>
        <p:nvSpPr>
          <p:cNvPr id="17" name="TextBox 16"/>
          <p:cNvSpPr txBox="1"/>
          <p:nvPr/>
        </p:nvSpPr>
        <p:spPr>
          <a:xfrm>
            <a:off x="685800" y="6080760"/>
            <a:ext cx="10820095" cy="365760"/>
          </a:xfrm>
          <a:prstGeom prst="rect">
            <a:avLst/>
          </a:prstGeom>
          <a:noFill/>
        </p:spPr>
        <p:txBody>
          <a:bodyPr wrap="none">
            <a:spAutoFit/>
          </a:bodyPr>
          <a:lstStyle/>
          <a:p>
            <a:pPr algn="r" rtl="1">
              <a:defRPr sz="1200" b="0">
                <a:solidFill>
                  <a:srgbClr val="64748B"/>
                </a:solidFill>
                <a:latin typeface="Segoe UI"/>
              </a:defRPr>
            </a:pPr>
            <a:r>
              <a:t>كلية النصر التقنية — النظام الجامعي الرقمي المتكامل · الإصدار المعتمد ٢.١.٠ · شكر وتقدير لمجلس الكلية والعمادة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